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1" r:id="rId12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3E2A52"/>
                </a:solidFill>
              </a:rPr>
              <a:t>Retreat feedback, Fall 2026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Highly valued (% of 47 attendees)</c:v>
                </c:pt>
              </c:strCache>
            </c:strRef>
          </c:tx>
          <c:spPr>
            <a:solidFill>
              <a:srgbClr val="5A3E77"/>
            </a:solidFill>
          </c:spPr>
          <c:cat>
            <c:strRef>
              <c:f>Sheet1!$A$2:$A$6</c:f>
              <c:strCache>
                <c:ptCount val="5"/>
                <c:pt idx="0">
                  <c:v>Worship</c:v>
                </c:pt>
                <c:pt idx="1">
                  <c:v>Fellowship</c:v>
                </c:pt>
                <c:pt idx="2">
                  <c:v>Rest</c:v>
                </c:pt>
                <c:pt idx="3">
                  <c:v>Teaching</c:v>
                </c:pt>
                <c:pt idx="4">
                  <c:v>Setting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</c:v>
                </c:pt>
                <c:pt idx="1">
                  <c:v>89</c:v>
                </c:pt>
                <c:pt idx="2">
                  <c:v>85</c:v>
                </c:pt>
                <c:pt idx="3">
                  <c:v>78</c:v>
                </c:pt>
                <c:pt idx="4">
                  <c:v>91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>
                <a:solidFill>
                  <a:srgbClr val="3E2A52"/>
                </a:solidFill>
              </a:rPr>
              <a:t>Christmas Eve choir by voice part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Christmas Eve choir by voice part</c:v>
                </c:pt>
              </c:strCache>
            </c:strRef>
          </c:tx>
          <c:dPt>
            <c:idx val="0"/>
            <c:spPr>
              <a:solidFill>
                <a:srgbClr val="3E2A52"/>
              </a:solidFill>
            </c:spPr>
          </c:dPt>
          <c:dPt>
            <c:idx val="1"/>
            <c:spPr>
              <a:solidFill>
                <a:srgbClr val="5A3E77"/>
              </a:solidFill>
            </c:spPr>
          </c:dPt>
          <c:dPt>
            <c:idx val="2"/>
            <c:spPr>
              <a:solidFill>
                <a:srgbClr val="D7B366"/>
              </a:solidFill>
            </c:spPr>
          </c:dPt>
          <c:dPt>
            <c:idx val="3"/>
            <c:spPr>
              <a:solidFill>
                <a:srgbClr val="8C6B3C"/>
              </a:solidFill>
            </c:spPr>
          </c:dPt>
          <c:cat>
            <c:strRef>
              <c:f>Sheet1!$A$2:$A$5</c:f>
              <c:strCache>
                <c:ptCount val="4"/>
                <c:pt idx="0">
                  <c:v>Soprano</c:v>
                </c:pt>
                <c:pt idx="1">
                  <c:v>Alto</c:v>
                </c:pt>
                <c:pt idx="2">
                  <c:v>Tenor</c:v>
                </c:pt>
                <c:pt idx="3">
                  <c:v>Bass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3E2A52"/>
                </a:solidFill>
              </a:rPr>
              <a:t>Advent attendance by service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Advent attendance by service</c:v>
                </c:pt>
              </c:strCache>
            </c:strRef>
          </c:tx>
          <c:spPr>
            <a:solidFill>
              <a:srgbClr val="3E2A52"/>
            </a:solidFill>
          </c:spPr>
          <c:cat>
            <c:strRef>
              <c:f>Sheet1!$A$2:$A$6</c:f>
              <c:strCache>
                <c:ptCount val="5"/>
                <c:pt idx="0">
                  <c:v>Advent 1</c:v>
                </c:pt>
                <c:pt idx="1">
                  <c:v>Advent 2</c:v>
                </c:pt>
                <c:pt idx="2">
                  <c:v>Advent 3</c:v>
                </c:pt>
                <c:pt idx="3">
                  <c:v>Advent 4</c:v>
                </c:pt>
                <c:pt idx="4">
                  <c:v>Christmas Eve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</c:v>
                </c:pt>
                <c:pt idx="1">
                  <c:v>210</c:v>
                </c:pt>
                <c:pt idx="2">
                  <c:v>195</c:v>
                </c:pt>
                <c:pt idx="3">
                  <c:v>205</c:v>
                </c:pt>
                <c:pt idx="4">
                  <c:v>320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0" y="1188720"/>
            <a:ext cx="109728" cy="640080"/>
          </a:xfrm>
          <a:prstGeom prst="rect">
            <a:avLst/>
          </a:prstGeom>
          <a:solidFill>
            <a:srgbClr val="D7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61104" y="960120"/>
            <a:ext cx="182880" cy="256032"/>
          </a:xfrm>
          <a:prstGeom prst="ellipse">
            <a:avLst/>
          </a:prstGeom>
          <a:solidFill>
            <a:srgbClr val="F4D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1188720"/>
            <a:ext cx="109728" cy="640080"/>
          </a:xfrm>
          <a:prstGeom prst="rect">
            <a:avLst/>
          </a:prstGeom>
          <a:solidFill>
            <a:srgbClr val="D7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04104" y="960120"/>
            <a:ext cx="182880" cy="256032"/>
          </a:xfrm>
          <a:prstGeom prst="ellipse">
            <a:avLst/>
          </a:prstGeom>
          <a:solidFill>
            <a:srgbClr val="F4D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188720"/>
            <a:ext cx="109728" cy="640080"/>
          </a:xfrm>
          <a:prstGeom prst="rect">
            <a:avLst/>
          </a:prstGeom>
          <a:solidFill>
            <a:srgbClr val="D7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47104" y="960120"/>
            <a:ext cx="182880" cy="256032"/>
          </a:xfrm>
          <a:prstGeom prst="ellipse">
            <a:avLst/>
          </a:prstGeom>
          <a:solidFill>
            <a:srgbClr val="F4D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188720"/>
            <a:ext cx="109728" cy="640080"/>
          </a:xfrm>
          <a:prstGeom prst="rect">
            <a:avLst/>
          </a:prstGeom>
          <a:solidFill>
            <a:srgbClr val="D7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90104" y="960120"/>
            <a:ext cx="182880" cy="256032"/>
          </a:xfrm>
          <a:prstGeom prst="ellipse">
            <a:avLst/>
          </a:prstGeom>
          <a:solidFill>
            <a:srgbClr val="F4D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Calibri"/>
              </a:rPr>
              <a:t>Advent at St. Genevieve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D7B366"/>
                </a:solidFill>
                <a:latin typeface="Calibri"/>
              </a:rPr>
              <a:t>A Season of Waiting, Worship, and Song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1EEF6"/>
                </a:solidFill>
                <a:latin typeface="Calibri"/>
              </a:rPr>
              <a:t>Worship plan and retreat debrief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B6A8C9"/>
                </a:solidFill>
                <a:latin typeface="Calibri"/>
              </a:rPr>
              <a:t>Prepared for the staff and music team, October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54" dur="indefinite" restart="never" nodeType="tmRoot">
          <p:childTnLst>
            <p:seq concurrent="1" nextAc="seek">
              <p:cTn id="255" dur="indefinite" nodeType="mainSeq">
                <p:childTnLst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D7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9260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Fall Retreat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9CBEC"/>
                </a:solidFill>
                <a:latin typeface="Calibri"/>
              </a:rPr>
              <a:t>What the people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74536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D9CBEC"/>
                </a:solidFill>
                <a:latin typeface="Calibri"/>
              </a:rPr>
              <a:t>St. Genevieve Community Church   |   Worship and Music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783080"/>
          <a:ext cx="65836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589520" y="1783080"/>
            <a:ext cx="393192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783080"/>
            <a:ext cx="3931920" cy="594360"/>
          </a:xfrm>
          <a:prstGeom prst="rect">
            <a:avLst/>
          </a:prstGeom>
          <a:solidFill>
            <a:srgbClr val="D7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883664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E2A52"/>
                </a:solidFill>
                <a:latin typeface="Calibri"/>
              </a:rPr>
              <a:t>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606040"/>
            <a:ext cx="35204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A2433"/>
                </a:solidFill>
                <a:latin typeface="Calibri"/>
              </a:rPr>
              <a:t>47 attendees, the strongest turnout in three years.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A2433"/>
                </a:solidFill>
                <a:latin typeface="Calibri"/>
              </a:rPr>
              <a:t>Worship and fellowship were the clear highlights.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574E66"/>
                </a:solidFill>
                <a:latin typeface="Calibri"/>
              </a:rPr>
              <a:t>Add one more block of unstructured rest next year.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5A3E77"/>
                </a:solidFill>
                <a:latin typeface="Calibri"/>
              </a:rPr>
              <a:t>Carry the momentum into Advent.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261" dur="indefinite" restart="never" nodeType="tmRoot">
          <p:childTnLst>
            <p:seq concurrent="1" nextAc="seek">
              <p:cTn id="262" dur="indefinite" nodeType="mainSeq">
                <p:childTnLst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D7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9260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Advent Worship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9CBEC"/>
                </a:solidFill>
                <a:latin typeface="Calibri"/>
              </a:rPr>
              <a:t>Four Sundays and Christmas Eve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74536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D9CBEC"/>
                </a:solidFill>
                <a:latin typeface="Calibri"/>
              </a:rPr>
              <a:t>St. Genevieve Community Church   |   Worship and Music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297680"/>
              </a:tblGrid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anchor="ctr">
                    <a:solidFill>
                      <a:srgbClr val="3E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anchor="ctr">
                    <a:solidFill>
                      <a:srgbClr val="3E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Music</a:t>
                      </a:r>
                    </a:p>
                  </a:txBody>
                  <a:tcPr anchor="ctr">
                    <a:solidFill>
                      <a:srgbClr val="3E2A5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A2433"/>
                          </a:solidFill>
                          <a:latin typeface="Calibri"/>
                        </a:rPr>
                        <a:t>November 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A2433"/>
                          </a:solidFill>
                          <a:latin typeface="Calibri"/>
                        </a:rPr>
                        <a:t>First Sunday of Advent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A2433"/>
                          </a:solidFill>
                          <a:latin typeface="Calibri"/>
                        </a:rPr>
                        <a:t>Wreath lighting, simple setting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A2433"/>
                          </a:solidFill>
                          <a:latin typeface="Calibri"/>
                        </a:rPr>
                        <a:t>December 6</a:t>
                      </a:r>
                    </a:p>
                  </a:txBody>
                  <a:tcPr anchor="ctr">
                    <a:solidFill>
                      <a:srgbClr val="E7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A2433"/>
                          </a:solidFill>
                          <a:latin typeface="Calibri"/>
                        </a:rPr>
                        <a:t>Lessons and Carols</a:t>
                      </a:r>
                    </a:p>
                  </a:txBody>
                  <a:tcPr anchor="ctr">
                    <a:solidFill>
                      <a:srgbClr val="E7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A2433"/>
                          </a:solidFill>
                          <a:latin typeface="Calibri"/>
                        </a:rPr>
                        <a:t>Extended choir program</a:t>
                      </a:r>
                    </a:p>
                  </a:txBody>
                  <a:tcPr anchor="ctr">
                    <a:solidFill>
                      <a:srgbClr val="E7DF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A2433"/>
                          </a:solidFill>
                          <a:latin typeface="Calibri"/>
                        </a:rPr>
                        <a:t>December 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A2433"/>
                          </a:solidFill>
                          <a:latin typeface="Calibri"/>
                        </a:rPr>
                        <a:t>Gaudete, Rose Sunday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A2433"/>
                          </a:solidFill>
                          <a:latin typeface="Calibri"/>
                        </a:rPr>
                        <a:t>Joy themed anthems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A2433"/>
                          </a:solidFill>
                          <a:latin typeface="Calibri"/>
                        </a:rPr>
                        <a:t>December 20</a:t>
                      </a:r>
                    </a:p>
                  </a:txBody>
                  <a:tcPr anchor="ctr">
                    <a:solidFill>
                      <a:srgbClr val="E7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A2433"/>
                          </a:solidFill>
                          <a:latin typeface="Calibri"/>
                        </a:rPr>
                        <a:t>Fourth Sunday of Advent</a:t>
                      </a:r>
                    </a:p>
                  </a:txBody>
                  <a:tcPr anchor="ctr">
                    <a:solidFill>
                      <a:srgbClr val="E7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A2433"/>
                          </a:solidFill>
                          <a:latin typeface="Calibri"/>
                        </a:rPr>
                        <a:t>Candlelight rehearsal at 4 PM</a:t>
                      </a:r>
                    </a:p>
                  </a:txBody>
                  <a:tcPr anchor="ctr">
                    <a:solidFill>
                      <a:srgbClr val="E7DF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A2433"/>
                          </a:solidFill>
                          <a:latin typeface="Calibri"/>
                        </a:rPr>
                        <a:t>December 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A2433"/>
                          </a:solidFill>
                          <a:latin typeface="Calibri"/>
                        </a:rPr>
                        <a:t>Christmas Eve, 7:00 PM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A2433"/>
                          </a:solidFill>
                          <a:latin typeface="Calibri"/>
                        </a:rPr>
                        <a:t>All choir 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268" dur="indefinite" restart="never" nodeType="tmRoot">
          <p:childTnLst>
            <p:seq concurrent="1" nextAc="seek">
              <p:cTn id="269" dur="indefinite" nodeType="mainSeq">
                <p:childTnLst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82296"/>
          </a:xfrm>
          <a:prstGeom prst="rect">
            <a:avLst/>
          </a:prstGeom>
          <a:solidFill>
            <a:srgbClr val="D7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9260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Choir and Music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9CBEC"/>
                </a:solidFill>
                <a:latin typeface="Calibri"/>
              </a:rPr>
              <a:t>Led by Rachel Stern, Choirmaster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74536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D9CBEC"/>
                </a:solidFill>
                <a:latin typeface="Calibri"/>
              </a:rPr>
              <a:t>St. Genevieve Community Church   |   Worship and Music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A2433"/>
                </a:solidFill>
                <a:latin typeface="Calibri"/>
              </a:rPr>
              <a:t>  Cantata rehearsals begin November 10, Tuesdays at 7:30 PM.</a:t>
            </a:r>
            <a:r>
              <a:t/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A2433"/>
                </a:solidFill>
                <a:latin typeface="Calibri"/>
              </a:rPr>
              <a:t>  Confirm thirty singers for the Christmas Eve all choir service by November 30.</a:t>
            </a:r>
            <a:r>
              <a:t/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A2433"/>
                </a:solidFill>
                <a:latin typeface="Calibri"/>
              </a:rPr>
              <a:t>  Commission a short newly arranged anthem for the Lessons and Carols service.</a:t>
            </a:r>
            <a:r>
              <a:t/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A2433"/>
                </a:solidFill>
                <a:latin typeface="Calibri"/>
              </a:rPr>
              <a:t>  Recruit additional instrumentalists for December 6.</a:t>
            </a:r>
            <a:r>
              <a:t/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A2433"/>
                </a:solidFill>
                <a:latin typeface="Calibri"/>
              </a:rPr>
              <a:t>  Prepare large print music folders for our older choristers.</a:t>
            </a:r>
            <a:r>
              <a:t/>
            </a:r>
          </a:p>
        </p:txBody>
      </p:sp>
    </p:spTree>
  </p:cSld>
  <p:clrMapOvr>
    <a:masterClrMapping/>
  </p:clrMapOvr>
  <p:transition spd="med">
    <p:fade/>
  </p:transition>
  <p:timing>
    <p:tnLst>
      <p:par>
        <p:cTn id="279" dur="indefinite" restart="never" nodeType="tmRoot">
          <p:childTnLst>
            <p:seq concurrent="1" nextAc="seek">
              <p:cTn id="280" dur="indefinite" nodeType="mainSeq">
                <p:childTnLst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15600" cy="3840480"/>
          </a:xfrm>
          <a:prstGeom prst="rect">
            <a:avLst/>
          </a:prstGeom>
          <a:solidFill>
            <a:srgbClr val="F1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3E2A52"/>
                </a:solidFill>
                <a:latin typeface="Calibri"/>
              </a:rPr>
              <a:t>Come Wait With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97840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2A2433"/>
                </a:solidFill>
                <a:latin typeface="Calibri"/>
              </a:rPr>
              <a:t>Advent asks us to hold two things at once: the darkness of what is not yet, and the first light of what is coming.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5A3E77"/>
                </a:solidFill>
                <a:latin typeface="Calibri"/>
              </a:rPr>
              <a:t>Come light candles with us. Come let the old words of promise do their slow, steady work in you.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90" dur="indefinite" restart="never" nodeType="tmRoot">
          <p:childTnLst>
            <p:seq concurrent="1" nextAc="seek">
              <p:cTn id="291" dur="indefinite" nodeType="mainSeq">
                <p:childTnLst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3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D7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1089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7B366"/>
                </a:solidFill>
                <a:latin typeface="Calibri"/>
              </a:rPr>
              <a:t>WORSHIP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Advent in Numbers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783080"/>
          <a:ext cx="55778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783080"/>
          <a:ext cx="54864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St. Genevieve Community Church   |   Worship and Music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523" dur="indefinite" restart="never" nodeType="tmRoot">
          <p:childTnLst>
            <p:seq concurrent="1" nextAc="seek">
              <p:cTn id="524" dur="indefinite" nodeType="mainSeq">
                <p:childTnLst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