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103120"/>
          </a:xfrm>
          <a:prstGeom prst="rect">
            <a:avLst/>
          </a:prstGeom>
          <a:solidFill>
            <a:srgbClr val="143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103120"/>
            <a:ext cx="12191695" cy="109728"/>
          </a:xfrm>
          <a:prstGeom prst="rect">
            <a:avLst/>
          </a:prstGeom>
          <a:solidFill>
            <a:srgbClr val="2F8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" y="640080"/>
            <a:ext cx="502920" cy="502920"/>
          </a:xfrm>
          <a:prstGeom prst="ellipse">
            <a:avLst/>
          </a:prstGeom>
          <a:solidFill>
            <a:srgbClr val="2F8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74320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3600" b="1" i="0">
                <a:solidFill>
                  <a:srgbClr val="14304A"/>
                </a:solidFill>
                <a:latin typeface="Calibri"/>
              </a:rPr>
              <a:t>Conway Dermatology Associates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2200" b="0" i="0">
                <a:solidFill>
                  <a:srgbClr val="2F8F8F"/>
                </a:solidFill>
                <a:latin typeface="Calibri"/>
              </a:rPr>
              <a:t>Annual Practice Review,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1206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5A6B75"/>
                </a:solidFill>
                <a:latin typeface="Calibri"/>
              </a:rPr>
              <a:t>Prepared by Diane Kowalski, Office Manager  |  Beaverton, Oregon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8686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BCD6DC"/>
                </a:solidFill>
                <a:latin typeface="Calibri"/>
              </a:rPr>
              <a:t>PRACTICE REVIEW</a:t>
            </a:r>
          </a:p>
        </p:txBody>
      </p:sp>
    </p:spTree>
  </p:cSld>
  <p:clrMapOvr>
    <a:masterClrMapping/>
  </p:clrMapOvr>
  <p:transition spd="med">
    <p:push dir="l"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143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29260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The Practice at a Glance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000" b="0" i="0">
                <a:solidFill>
                  <a:srgbClr val="2F8F8F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BCD6DC"/>
                </a:solidFill>
                <a:latin typeface="Calibri"/>
              </a:rPr>
              <a:t>A four-provider medical and cosmetic dermatology practice.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914400"/>
            <a:ext cx="3566160" cy="2468880"/>
          </a:xfrm>
          <a:prstGeom prst="rect">
            <a:avLst/>
          </a:prstGeom>
          <a:solidFill>
            <a:srgbClr val="FFFFFF"/>
          </a:solidFill>
          <a:ln w="15240">
            <a:solidFill>
              <a:srgbClr val="D6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0" y="914400"/>
            <a:ext cx="3566160" cy="128016"/>
          </a:xfrm>
          <a:prstGeom prst="rect">
            <a:avLst/>
          </a:prstGeom>
          <a:solidFill>
            <a:srgbClr val="2F8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0" y="1417320"/>
            <a:ext cx="292608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3600" b="1" i="0">
                <a:solidFill>
                  <a:srgbClr val="14304A"/>
                </a:solidFill>
                <a:latin typeface="Calibri"/>
              </a:rPr>
              <a:t>4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5A6B75"/>
                </a:solidFill>
                <a:latin typeface="Calibri"/>
              </a:rPr>
              <a:t>Providers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8183879" y="914400"/>
            <a:ext cx="3566160" cy="2468880"/>
          </a:xfrm>
          <a:prstGeom prst="rect">
            <a:avLst/>
          </a:prstGeom>
          <a:solidFill>
            <a:srgbClr val="FFFFFF"/>
          </a:solidFill>
          <a:ln w="15240">
            <a:solidFill>
              <a:srgbClr val="D6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83879" y="914400"/>
            <a:ext cx="3566160" cy="128016"/>
          </a:xfrm>
          <a:prstGeom prst="rect">
            <a:avLst/>
          </a:prstGeom>
          <a:solidFill>
            <a:srgbClr val="D3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49640" y="1417320"/>
            <a:ext cx="292608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3600" b="1" i="0">
                <a:solidFill>
                  <a:srgbClr val="14304A"/>
                </a:solidFill>
                <a:latin typeface="Calibri"/>
              </a:rPr>
              <a:t>USD 1.8M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5A6B75"/>
                </a:solidFill>
                <a:latin typeface="Calibri"/>
              </a:rPr>
              <a:t>Gross revenue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0" y="3840480"/>
            <a:ext cx="3566160" cy="2468880"/>
          </a:xfrm>
          <a:prstGeom prst="rect">
            <a:avLst/>
          </a:prstGeom>
          <a:solidFill>
            <a:srgbClr val="FFFFFF"/>
          </a:solidFill>
          <a:ln w="15240">
            <a:solidFill>
              <a:srgbClr val="D6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0" y="3840480"/>
            <a:ext cx="3566160" cy="128016"/>
          </a:xfrm>
          <a:prstGeom prst="rect">
            <a:avLst/>
          </a:prstGeom>
          <a:solidFill>
            <a:srgbClr val="2F8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4343400"/>
            <a:ext cx="292608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3600" b="1" i="0">
                <a:solidFill>
                  <a:srgbClr val="14304A"/>
                </a:solidFill>
                <a:latin typeface="Calibri"/>
              </a:rPr>
              <a:t>USD 100k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5A6B75"/>
                </a:solidFill>
                <a:latin typeface="Calibri"/>
              </a:rPr>
              <a:t>Net retained earnings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83879" y="3840480"/>
            <a:ext cx="3566160" cy="2468880"/>
          </a:xfrm>
          <a:prstGeom prst="rect">
            <a:avLst/>
          </a:prstGeom>
          <a:solidFill>
            <a:srgbClr val="FFFFFF"/>
          </a:solidFill>
          <a:ln w="15240">
            <a:solidFill>
              <a:srgbClr val="D6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79" y="3840480"/>
            <a:ext cx="3566160" cy="128016"/>
          </a:xfrm>
          <a:prstGeom prst="rect">
            <a:avLst/>
          </a:prstGeom>
          <a:solidFill>
            <a:srgbClr val="7A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49640" y="4343400"/>
            <a:ext cx="292608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3600" b="1" i="0">
                <a:solidFill>
                  <a:srgbClr val="14304A"/>
                </a:solidFill>
                <a:latin typeface="Calibri"/>
              </a:rPr>
              <a:t>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5A6B75"/>
                </a:solidFill>
                <a:latin typeface="Calibri"/>
              </a:rPr>
              <a:t>Beaverton location</a:t>
            </a:r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43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47472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Where the Revenue Goes, 2025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2011680"/>
            <a:ext cx="994409" cy="3840480"/>
          </a:xfrm>
          <a:prstGeom prst="rect">
            <a:avLst/>
          </a:prstGeom>
          <a:solidFill>
            <a:srgbClr val="2F8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19072"/>
            <a:ext cx="140589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4304A"/>
                </a:solidFill>
                <a:latin typeface="Calibri"/>
              </a:rPr>
              <a:t>875k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925312"/>
            <a:ext cx="149733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4A5B65"/>
                </a:solidFill>
                <a:latin typeface="Calibri"/>
              </a:rPr>
              <a:t>Provider draws</a:t>
            </a:r>
          </a:p>
        </p:txBody>
      </p:sp>
      <p:sp>
        <p:nvSpPr>
          <p:cNvPr id="8" name="Rectangle 7"/>
          <p:cNvSpPr/>
          <p:nvPr/>
        </p:nvSpPr>
        <p:spPr>
          <a:xfrm>
            <a:off x="2320290" y="4491532"/>
            <a:ext cx="994409" cy="1360627"/>
          </a:xfrm>
          <a:prstGeom prst="rect">
            <a:avLst/>
          </a:prstGeom>
          <a:solidFill>
            <a:srgbClr val="143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28850" y="4198924"/>
            <a:ext cx="140589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4304A"/>
                </a:solidFill>
                <a:latin typeface="Calibri"/>
              </a:rPr>
              <a:t>310k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83130" y="5925312"/>
            <a:ext cx="149733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4A5B65"/>
                </a:solidFill>
                <a:latin typeface="Calibri"/>
              </a:rPr>
              <a:t>Support payroll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34740" y="5215737"/>
            <a:ext cx="994409" cy="636422"/>
          </a:xfrm>
          <a:prstGeom prst="rect">
            <a:avLst/>
          </a:prstGeom>
          <a:solidFill>
            <a:srgbClr val="2F8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43300" y="4923129"/>
            <a:ext cx="140589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4304A"/>
                </a:solidFill>
                <a:latin typeface="Calibri"/>
              </a:rPr>
              <a:t>145k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97580" y="5925312"/>
            <a:ext cx="149733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4A5B65"/>
                </a:solidFill>
                <a:latin typeface="Calibri"/>
              </a:rPr>
              <a:t>Clinical supplies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49190" y="5430804"/>
            <a:ext cx="994409" cy="421355"/>
          </a:xfrm>
          <a:prstGeom prst="rect">
            <a:avLst/>
          </a:prstGeom>
          <a:solidFill>
            <a:srgbClr val="143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57750" y="5138196"/>
            <a:ext cx="140589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4304A"/>
                </a:solidFill>
                <a:latin typeface="Calibri"/>
              </a:rPr>
              <a:t>96k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12029" y="5925312"/>
            <a:ext cx="149733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4A5B65"/>
                </a:solidFill>
                <a:latin typeface="Calibri"/>
              </a:rPr>
              <a:t>Rent &amp; facilities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5536143"/>
            <a:ext cx="994409" cy="316016"/>
          </a:xfrm>
          <a:prstGeom prst="rect">
            <a:avLst/>
          </a:prstGeom>
          <a:solidFill>
            <a:srgbClr val="2F8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200" y="5243535"/>
            <a:ext cx="140589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4304A"/>
                </a:solidFill>
                <a:latin typeface="Calibri"/>
              </a:rPr>
              <a:t>72k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79" y="5925312"/>
            <a:ext cx="149733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4A5B65"/>
                </a:solidFill>
                <a:latin typeface="Calibri"/>
              </a:rPr>
              <a:t>Malpractice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78090" y="5615147"/>
            <a:ext cx="994409" cy="237012"/>
          </a:xfrm>
          <a:prstGeom prst="rect">
            <a:avLst/>
          </a:prstGeom>
          <a:solidFill>
            <a:srgbClr val="143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86650" y="5322539"/>
            <a:ext cx="140589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4304A"/>
                </a:solidFill>
                <a:latin typeface="Calibri"/>
              </a:rPr>
              <a:t>54k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40929" y="5925312"/>
            <a:ext cx="149733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4A5B65"/>
                </a:solidFill>
                <a:latin typeface="Calibri"/>
              </a:rPr>
              <a:t>Software &amp; IT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892540" y="5641482"/>
            <a:ext cx="994409" cy="210677"/>
          </a:xfrm>
          <a:prstGeom prst="rect">
            <a:avLst/>
          </a:prstGeom>
          <a:solidFill>
            <a:srgbClr val="2F8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01100" y="5348874"/>
            <a:ext cx="140589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4304A"/>
                </a:solidFill>
                <a:latin typeface="Calibri"/>
              </a:rPr>
              <a:t>48k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55380" y="5925312"/>
            <a:ext cx="149733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4A5B65"/>
                </a:solidFill>
                <a:latin typeface="Calibri"/>
              </a:rPr>
              <a:t>Equipment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206990" y="5676595"/>
            <a:ext cx="994409" cy="175564"/>
          </a:xfrm>
          <a:prstGeom prst="rect">
            <a:avLst/>
          </a:prstGeom>
          <a:solidFill>
            <a:srgbClr val="143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15550" y="5383987"/>
            <a:ext cx="140589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4304A"/>
                </a:solidFill>
                <a:latin typeface="Calibri"/>
              </a:rPr>
              <a:t>40k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69830" y="5925312"/>
            <a:ext cx="149733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4A5B65"/>
                </a:solidFill>
                <a:latin typeface="Calibri"/>
              </a:rPr>
              <a:t>Reinvestment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63093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1">
                <a:solidFill>
                  <a:srgbClr val="5A6B75"/>
                </a:solidFill>
                <a:latin typeface="Calibri"/>
              </a:rPr>
              <a:t>Total expenses USD 1,700,000 against gross revenue of USD 1,800,000, in thousands of US dollars.</a:t>
            </a:r>
          </a:p>
        </p:txBody>
      </p:sp>
    </p:spTree>
  </p:cSld>
  <p:clrMapOvr>
    <a:masterClrMapping/>
  </p:clrMapOvr>
  <p:transition spd="med">
    <p:push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43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47472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Provider Team and Draws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828800"/>
          <a:ext cx="10515600" cy="3337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06240"/>
                <a:gridCol w="4023360"/>
                <a:gridCol w="2286000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Provider</a:t>
                      </a:r>
                    </a:p>
                  </a:txBody>
                  <a:tcPr marL="109728" marR="73152" marT="27432" marB="27432" anchor="ctr">
                    <a:solidFill>
                      <a:srgbClr val="14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marL="109728" marR="73152" marT="27432" marB="27432" anchor="ctr">
                    <a:solidFill>
                      <a:srgbClr val="14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Annual draw, USD</a:t>
                      </a:r>
                    </a:p>
                  </a:txBody>
                  <a:tcPr marL="109728" marR="73152" marT="27432" marB="27432" anchor="ctr">
                    <a:solidFill>
                      <a:srgbClr val="14304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6333B"/>
                          </a:solidFill>
                          <a:latin typeface="Calibri"/>
                        </a:rPr>
                        <a:t>Catherine Conway, MD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6333B"/>
                          </a:solidFill>
                          <a:latin typeface="Calibri"/>
                        </a:rPr>
                        <a:t>Founder and lead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6333B"/>
                          </a:solidFill>
                          <a:latin typeface="Calibri"/>
                        </a:rPr>
                        <a:t>340,000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6333B"/>
                          </a:solidFill>
                          <a:latin typeface="Calibri"/>
                        </a:rPr>
                        <a:t>Rachel Hoffman, MD</a:t>
                      </a:r>
                    </a:p>
                  </a:txBody>
                  <a:tcPr marL="109728" marR="73152" marT="27432" marB="27432" anchor="ctr">
                    <a:solidFill>
                      <a:srgbClr val="EE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6333B"/>
                          </a:solidFill>
                          <a:latin typeface="Calibri"/>
                        </a:rPr>
                        <a:t>Cosmetic dermatology</a:t>
                      </a:r>
                    </a:p>
                  </a:txBody>
                  <a:tcPr marL="109728" marR="73152" marT="27432" marB="27432" anchor="ctr">
                    <a:solidFill>
                      <a:srgbClr val="EE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6333B"/>
                          </a:solidFill>
                          <a:latin typeface="Calibri"/>
                        </a:rPr>
                        <a:t>280,000</a:t>
                      </a:r>
                    </a:p>
                  </a:txBody>
                  <a:tcPr marL="109728" marR="73152" marT="27432" marB="27432" anchor="ctr">
                    <a:solidFill>
                      <a:srgbClr val="EEF4F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6333B"/>
                          </a:solidFill>
                          <a:latin typeface="Calibri"/>
                        </a:rPr>
                        <a:t>Lauren Bell, NP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6333B"/>
                          </a:solidFill>
                          <a:latin typeface="Calibri"/>
                        </a:rPr>
                        <a:t>Nurse practitioner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6333B"/>
                          </a:solidFill>
                          <a:latin typeface="Calibri"/>
                        </a:rPr>
                        <a:t>130,000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6333B"/>
                          </a:solidFill>
                          <a:latin typeface="Calibri"/>
                        </a:rPr>
                        <a:t>Marcus Grant, NP</a:t>
                      </a:r>
                    </a:p>
                  </a:txBody>
                  <a:tcPr marL="109728" marR="73152" marT="27432" marB="27432" anchor="ctr">
                    <a:solidFill>
                      <a:srgbClr val="EE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6333B"/>
                          </a:solidFill>
                          <a:latin typeface="Calibri"/>
                        </a:rPr>
                        <a:t>Nurse practitioner</a:t>
                      </a:r>
                    </a:p>
                  </a:txBody>
                  <a:tcPr marL="109728" marR="73152" marT="27432" marB="27432" anchor="ctr">
                    <a:solidFill>
                      <a:srgbClr val="EE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6333B"/>
                          </a:solidFill>
                          <a:latin typeface="Calibri"/>
                        </a:rPr>
                        <a:t>125,000</a:t>
                      </a:r>
                    </a:p>
                  </a:txBody>
                  <a:tcPr marL="109728" marR="73152" marT="27432" marB="27432" anchor="ctr">
                    <a:solidFill>
                      <a:srgbClr val="EEF4F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6333B"/>
                          </a:solidFill>
                          <a:latin typeface="Calibri"/>
                        </a:rPr>
                        <a:t>Total provider compensation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6333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6333B"/>
                          </a:solidFill>
                          <a:latin typeface="Calibri"/>
                        </a:rPr>
                        <a:t>875,000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1">
                <a:solidFill>
                  <a:srgbClr val="5A6B75"/>
                </a:solidFill>
                <a:latin typeface="Calibri"/>
              </a:rPr>
              <a:t>Support staff payroll of USD 310,000 covers the office manager, three medical assistants, and two front desk staff.</a:t>
            </a:r>
          </a:p>
        </p:txBody>
      </p:sp>
    </p:spTree>
  </p:cSld>
  <p:clrMapOvr>
    <a:masterClrMapping/>
  </p:clrMapOvr>
  <p:transition spd="med">
    <p:push dir="l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Goals for 2027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54480"/>
            <a:ext cx="2926080" cy="73152"/>
          </a:xfrm>
          <a:prstGeom prst="rect">
            <a:avLst/>
          </a:prstGeom>
          <a:solidFill>
            <a:srgbClr val="2F8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05156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700" b="1">
                <a:solidFill>
                  <a:srgbClr val="2F8F8F"/>
                </a:solidFill>
                <a:latin typeface="Calibri"/>
              </a:rPr>
              <a:t>-  </a:t>
            </a:r>
            <a:r>
              <a:rPr sz="1700">
                <a:solidFill>
                  <a:srgbClr val="DBE8EC"/>
                </a:solidFill>
                <a:latin typeface="Calibri"/>
              </a:rPr>
              <a:t>Recredential all four providers ahead of the early 2027 license cycle.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700" b="1">
                <a:solidFill>
                  <a:srgbClr val="2F8F8F"/>
                </a:solidFill>
                <a:latin typeface="Calibri"/>
              </a:rPr>
              <a:t>-  </a:t>
            </a:r>
            <a:r>
              <a:rPr sz="1700">
                <a:solidFill>
                  <a:srgbClr val="DBE8EC"/>
                </a:solidFill>
                <a:latin typeface="Calibri"/>
              </a:rPr>
              <a:t>Expand cosmetic dermatology hours to meet steady demand.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700" b="1">
                <a:solidFill>
                  <a:srgbClr val="2F8F8F"/>
                </a:solidFill>
                <a:latin typeface="Calibri"/>
              </a:rPr>
              <a:t>-  </a:t>
            </a:r>
            <a:r>
              <a:rPr sz="1700">
                <a:solidFill>
                  <a:srgbClr val="DBE8EC"/>
                </a:solidFill>
                <a:latin typeface="Calibri"/>
              </a:rPr>
              <a:t>Refresh the patient portal and online appointment requests.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700" b="1">
                <a:solidFill>
                  <a:srgbClr val="2F8F8F"/>
                </a:solidFill>
                <a:latin typeface="Calibri"/>
              </a:rPr>
              <a:t>-  </a:t>
            </a:r>
            <a:r>
              <a:rPr sz="1700">
                <a:solidFill>
                  <a:srgbClr val="DBE8EC"/>
                </a:solidFill>
                <a:latin typeface="Calibri"/>
              </a:rPr>
              <a:t>Add a second Friday procedure block to reduce the screening backlog.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700" b="1">
                <a:solidFill>
                  <a:srgbClr val="2F8F8F"/>
                </a:solidFill>
                <a:latin typeface="Calibri"/>
              </a:rPr>
              <a:t>-  </a:t>
            </a:r>
            <a:r>
              <a:rPr sz="1700">
                <a:solidFill>
                  <a:srgbClr val="DBE8EC"/>
                </a:solidFill>
                <a:latin typeface="Calibri"/>
              </a:rPr>
              <a:t>Hold reinvestment near USD 40,000 for equipment and training.</a:t>
            </a:r>
          </a:p>
        </p:txBody>
      </p:sp>
    </p:spTree>
  </p:cSld>
  <p:clrMapOvr>
    <a:masterClrMapping/>
  </p:clrMapOvr>
  <p:transition spd="med">
    <p:push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43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194560"/>
            <a:ext cx="12191695" cy="109728"/>
          </a:xfrm>
          <a:prstGeom prst="rect">
            <a:avLst/>
          </a:prstGeom>
          <a:solidFill>
            <a:srgbClr val="2F8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A steady, well-run year.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1752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0" i="0">
                <a:solidFill>
                  <a:srgbClr val="1F2D36"/>
                </a:solidFill>
                <a:latin typeface="Calibri"/>
              </a:rPr>
              <a:t>Gross revenue held at USD 1.8M with USD 100k retained for the practice.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800" b="0" i="0">
                <a:solidFill>
                  <a:srgbClr val="1F2D36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5A6B75"/>
                </a:solidFill>
                <a:latin typeface="Calibri"/>
              </a:rPr>
              <a:t>Conway Dermatology Associates  |  12450 SW Canyon Road, Suite 210, Beaverton, OR 97005</a:t>
            </a:r>
          </a:p>
        </p:txBody>
      </p:sp>
    </p:spTree>
  </p:cSld>
  <p:clrMapOvr>
    <a:masterClrMapping/>
  </p:clrMapOvr>
  <p:transition spd="med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Conway Dermatology Associates Annual Review</dc:title>
  <dc:subject/>
  <dc:creator>Catherine Conway</dc:creator>
  <cp:keywords/>
  <dc:description/>
  <cp:lastModifiedBy>Catherine Conway</cp:lastModifiedBy>
  <cp:revision>1</cp:revision>
  <dcterms:created xsi:type="dcterms:W3CDTF">2026-02-01T10:00:00Z</dcterms:created>
  <dcterms:modified xsi:type="dcterms:W3CDTF">2026-02-01T10:00:00Z</dcterms:modified>
  <cp:category/>
</cp:coreProperties>
</file>