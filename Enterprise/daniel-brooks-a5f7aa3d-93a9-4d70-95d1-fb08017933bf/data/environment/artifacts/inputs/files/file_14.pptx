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chart>
    <c:autoTitleDeleted val="1"/>
    <c:plotArea>
      <c:pieChart>
        <c:varyColors val="1"/>
        <c:ser>
          <c:idx val="0"/>
          <c:order val="0"/>
          <c:tx>
            <c:strRef>
              <c:f>Sheet1!$B$1</c:f>
              <c:strCache>
                <c:ptCount val="1"/>
                <c:pt idx="0">
                  <c:v>s</c:v>
                </c:pt>
              </c:strCache>
            </c:strRef>
          </c:tx>
          <c:dPt>
            <c:idx val="0"/>
            <c:spPr>
              <a:solidFill>
                <a:srgbClr val="5B8DEF"/>
              </a:solidFill>
            </c:spPr>
          </c:dPt>
          <c:dPt>
            <c:idx val="1"/>
            <c:spPr>
              <a:solidFill>
                <a:srgbClr val="C05A76"/>
              </a:solidFill>
            </c:spPr>
          </c:dPt>
          <c:dPt>
            <c:idx val="2"/>
            <c:spPr>
              <a:solidFill>
                <a:srgbClr val="2F9E95"/>
              </a:solidFill>
            </c:spPr>
          </c:dPt>
          <c:dPt>
            <c:idx val="3"/>
            <c:spPr>
              <a:solidFill>
                <a:srgbClr val="D0A35C"/>
              </a:solidFill>
            </c:spPr>
          </c:dPt>
          <c:dPt>
            <c:idx val="4"/>
            <c:spPr>
              <a:solidFill>
                <a:srgbClr val="6B7499"/>
              </a:solidFill>
            </c:spPr>
          </c:dPt>
          <c:cat>
            <c:strRef>
              <c:f>Sheet1!$A$2:$A$6</c:f>
              <c:strCache>
                <c:ptCount val="5"/>
                <c:pt idx="0">
                  <c:v>Silent auction</c:v>
                </c:pt>
                <c:pt idx="1">
                  <c:v>Leadership tables</c:v>
                </c:pt>
                <c:pt idx="2">
                  <c:v>Benefactor tables</c:v>
                </c:pt>
                <c:pt idx="3">
                  <c:v>Individual tickets</c:v>
                </c:pt>
                <c:pt idx="4">
                  <c:v>Paddle raise</c:v>
                </c:pt>
              </c:strCache>
            </c:strRef>
          </c:cat>
          <c:val>
            <c:numRef>
              <c:f>Sheet1!$B$2:$B$6</c:f>
              <c:numCache>
                <c:formatCode>General</c:formatCode>
                <c:ptCount val="5"/>
                <c:pt idx="0">
                  <c:v>120000</c:v>
                </c:pt>
                <c:pt idx="1">
                  <c:v>80000</c:v>
                </c:pt>
                <c:pt idx="2">
                  <c:v>84000</c:v>
                </c:pt>
                <c:pt idx="3">
                  <c:v>84000</c:v>
                </c:pt>
                <c:pt idx="4">
                  <c:v>84000</c:v>
                </c:pt>
              </c:numCache>
            </c:numRef>
          </c:val>
        </c:ser>
        <c:dLbls>
          <c:numFmt formatCode="0%" sourceLinked="0"/>
          <c:txPr>
            <a:bodyPr/>
            <a:lstStyle/>
            <a:p>
              <a:pPr>
                <a:defRPr sz="1000">
                  <a:solidFill>
                    <a:srgbClr val="241A20"/>
                  </a:solidFill>
                  <a:latin typeface="Segoe UI"/>
                </a:defRPr>
              </a:pPr>
            </a:p>
          </c:txPr>
          <c:dLblPos val="outEnd"/>
          <c:showLegendKey val="0"/>
          <c:showVal val="0"/>
          <c:showCatName val="0"/>
          <c:showSerName val="0"/>
          <c:showPercent val="1"/>
          <c:showBubbleSize val="0"/>
          <c:showLeaderLines val="1"/>
        </c:dLbls>
      </c:pieChart>
    </c:plotArea>
    <c:legend>
      <c:legendPos/>
      <c:overlay val="0"/>
      <c:txPr>
        <a:bodyPr/>
        <a:lstStyle/>
        <a:p>
          <a:pPr>
            <a:defRPr sz="1100">
              <a:latin typeface="Segoe UI"/>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v>
                </c:pt>
              </c:strCache>
            </c:strRef>
          </c:tx>
          <c:spPr>
            <a:solidFill>
              <a:srgbClr val="C05A76"/>
            </a:solidFill>
          </c:spPr>
          <c:cat>
            <c:strRef>
              <c:f>Sheet1!$A$2:$A$5</c:f>
              <c:strCache>
                <c:ptCount val="4"/>
                <c:pt idx="0">
                  <c:v>Extra rehearsal weeks</c:v>
                </c:pt>
                <c:pt idx="1">
                  <c:v>Apprentice positions</c:v>
                </c:pt>
                <c:pt idx="2">
                  <c:v>New choreography</c:v>
                </c:pt>
                <c:pt idx="3">
                  <c:v>Education and outreach</c:v>
                </c:pt>
              </c:strCache>
            </c:strRef>
          </c:cat>
          <c:val>
            <c:numRef>
              <c:f>Sheet1!$B$2:$B$5</c:f>
              <c:numCache>
                <c:formatCode>General</c:formatCode>
                <c:ptCount val="4"/>
                <c:pt idx="0">
                  <c:v>120000</c:v>
                </c:pt>
                <c:pt idx="1">
                  <c:v>95000</c:v>
                </c:pt>
                <c:pt idx="2">
                  <c:v>85500</c:v>
                </c:pt>
                <c:pt idx="3">
                  <c:v>55000</c:v>
                </c:pt>
              </c:numCache>
            </c:numRef>
          </c:val>
        </c:ser>
        <c:dLbls>
          <c:numFmt formatCode="#,##0" sourceLinked="0"/>
          <c:txPr>
            <a:bodyPr/>
            <a:lstStyle/>
            <a:p>
              <a:pPr>
                <a:defRPr sz="1000">
                  <a:solidFill>
                    <a:srgbClr val="241A20"/>
                  </a:solidFill>
                  <a:latin typeface="Segoe UI"/>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000">
                <a:latin typeface="Segoe UI"/>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000">
                <a:latin typeface="Segoe UI"/>
              </a:defRPr>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E23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436815" cy="6858000"/>
          </a:xfrm>
          <a:prstGeom prst="rect">
            <a:avLst/>
          </a:prstGeom>
          <a:solidFill>
            <a:srgbClr val="5E23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g_g.jpg"/>
          <p:cNvPicPr>
            <a:picLocks noChangeAspect="1"/>
          </p:cNvPicPr>
          <p:nvPr/>
        </p:nvPicPr>
        <p:blipFill>
          <a:blip r:embed="rId2"/>
          <a:stretch>
            <a:fillRect/>
          </a:stretch>
        </p:blipFill>
        <p:spPr>
          <a:xfrm>
            <a:off x="7436815" y="0"/>
            <a:ext cx="4754880" cy="6858000"/>
          </a:xfrm>
          <a:prstGeom prst="rect">
            <a:avLst/>
          </a:prstGeom>
        </p:spPr>
      </p:pic>
      <p:sp>
        <p:nvSpPr>
          <p:cNvPr id="5" name="Rectangle 4"/>
          <p:cNvSpPr/>
          <p:nvPr/>
        </p:nvSpPr>
        <p:spPr>
          <a:xfrm>
            <a:off x="7381951" y="0"/>
            <a:ext cx="54864" cy="6858000"/>
          </a:xfrm>
          <a:prstGeom prst="rect">
            <a:avLst/>
          </a:prstGeom>
          <a:solidFill>
            <a:srgbClr val="B08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554480"/>
            <a:ext cx="6065215" cy="457200"/>
          </a:xfrm>
          <a:prstGeom prst="rect">
            <a:avLst/>
          </a:prstGeom>
          <a:noFill/>
        </p:spPr>
        <p:txBody>
          <a:bodyPr wrap="square" anchor="t">
            <a:spAutoFit/>
          </a:bodyPr>
          <a:lstStyle/>
          <a:p>
            <a:pPr algn="l">
              <a:spcBef>
                <a:spcPts val="0"/>
              </a:spcBef>
              <a:spcAft>
                <a:spcPts val="0"/>
              </a:spcAft>
            </a:pPr>
            <a:r>
              <a:rPr sz="1300" b="1">
                <a:solidFill>
                  <a:srgbClr val="B08A52"/>
                </a:solidFill>
                <a:latin typeface="Segoe UI"/>
              </a:rPr>
              <a:t>GULF COAST BALLET</a:t>
            </a:r>
          </a:p>
        </p:txBody>
      </p:sp>
      <p:sp>
        <p:nvSpPr>
          <p:cNvPr id="7" name="TextBox 6"/>
          <p:cNvSpPr txBox="1"/>
          <p:nvPr/>
        </p:nvSpPr>
        <p:spPr>
          <a:xfrm>
            <a:off x="777240" y="2057400"/>
            <a:ext cx="6248095" cy="2377440"/>
          </a:xfrm>
          <a:prstGeom prst="rect">
            <a:avLst/>
          </a:prstGeom>
          <a:noFill/>
        </p:spPr>
        <p:txBody>
          <a:bodyPr wrap="square" anchor="t">
            <a:spAutoFit/>
          </a:bodyPr>
          <a:lstStyle/>
          <a:p>
            <a:pPr algn="l">
              <a:spcBef>
                <a:spcPts val="0"/>
              </a:spcBef>
              <a:spcAft>
                <a:spcPts val="200"/>
              </a:spcAft>
            </a:pPr>
            <a:r>
              <a:rPr sz="4000" b="0">
                <a:solidFill>
                  <a:srgbClr val="FFFFFF"/>
                </a:solidFill>
                <a:latin typeface="Georgia"/>
              </a:rPr>
              <a:t>An Evening</a:t>
            </a:r>
          </a:p>
          <a:p>
            <a:pPr algn="l">
              <a:spcBef>
                <a:spcPts val="0"/>
              </a:spcBef>
              <a:spcAft>
                <a:spcPts val="200"/>
              </a:spcAft>
            </a:pPr>
            <a:r>
              <a:rPr sz="4000" b="0">
                <a:solidFill>
                  <a:srgbClr val="FFFFFF"/>
                </a:solidFill>
                <a:latin typeface="Georgia"/>
              </a:rPr>
              <a:t>of Dance</a:t>
            </a:r>
          </a:p>
        </p:txBody>
      </p:sp>
      <p:sp>
        <p:nvSpPr>
          <p:cNvPr id="8" name="TextBox 7"/>
          <p:cNvSpPr txBox="1"/>
          <p:nvPr/>
        </p:nvSpPr>
        <p:spPr>
          <a:xfrm>
            <a:off x="777240" y="4572000"/>
            <a:ext cx="5973775" cy="1280160"/>
          </a:xfrm>
          <a:prstGeom prst="rect">
            <a:avLst/>
          </a:prstGeom>
          <a:noFill/>
        </p:spPr>
        <p:txBody>
          <a:bodyPr wrap="square" anchor="t">
            <a:spAutoFit/>
          </a:bodyPr>
          <a:lstStyle/>
          <a:p>
            <a:pPr algn="l">
              <a:spcBef>
                <a:spcPts val="0"/>
              </a:spcBef>
              <a:spcAft>
                <a:spcPts val="0"/>
              </a:spcAft>
            </a:pPr>
            <a:r>
              <a:rPr sz="1500" b="0">
                <a:solidFill>
                  <a:srgbClr val="E7DCD2"/>
                </a:solidFill>
                <a:latin typeface="Segoe UI"/>
              </a:rPr>
              <a:t>Spring Gala results and the case for support, prepared for the development committee.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0"/>
            <a:ext cx="12191695" cy="27432"/>
          </a:xfrm>
          <a:prstGeom prst="rect">
            <a:avLst/>
          </a:prstGeom>
          <a:solidFill>
            <a:srgbClr val="E0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457200"/>
            <a:ext cx="109728" cy="566928"/>
          </a:xfrm>
          <a:prstGeom prst="rect">
            <a:avLst/>
          </a:prstGeom>
          <a:solidFill>
            <a:srgbClr val="5E23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384048"/>
            <a:ext cx="10058400" cy="320040"/>
          </a:xfrm>
          <a:prstGeom prst="rect">
            <a:avLst/>
          </a:prstGeom>
          <a:noFill/>
        </p:spPr>
        <p:txBody>
          <a:bodyPr wrap="square" anchor="t">
            <a:spAutoFit/>
          </a:bodyPr>
          <a:lstStyle/>
          <a:p>
            <a:pPr algn="l">
              <a:spcBef>
                <a:spcPts val="0"/>
              </a:spcBef>
              <a:spcAft>
                <a:spcPts val="0"/>
              </a:spcAft>
            </a:pPr>
            <a:r>
              <a:rPr sz="1200" b="1">
                <a:solidFill>
                  <a:srgbClr val="B08A52"/>
                </a:solidFill>
                <a:latin typeface="Segoe UI"/>
              </a:rPr>
              <a:t>THE EVENING AT A GLANCE</a:t>
            </a:r>
          </a:p>
        </p:txBody>
      </p:sp>
      <p:sp>
        <p:nvSpPr>
          <p:cNvPr id="7" name="TextBox 6"/>
          <p:cNvSpPr txBox="1"/>
          <p:nvPr/>
        </p:nvSpPr>
        <p:spPr>
          <a:xfrm>
            <a:off x="777240" y="603504"/>
            <a:ext cx="10972800" cy="640080"/>
          </a:xfrm>
          <a:prstGeom prst="rect">
            <a:avLst/>
          </a:prstGeom>
          <a:noFill/>
        </p:spPr>
        <p:txBody>
          <a:bodyPr wrap="square" anchor="t">
            <a:spAutoFit/>
          </a:bodyPr>
          <a:lstStyle/>
          <a:p>
            <a:pPr algn="l">
              <a:spcBef>
                <a:spcPts val="0"/>
              </a:spcBef>
              <a:spcAft>
                <a:spcPts val="0"/>
              </a:spcAft>
            </a:pPr>
            <a:r>
              <a:rPr sz="2600" b="0">
                <a:solidFill>
                  <a:srgbClr val="241A20"/>
                </a:solidFill>
                <a:latin typeface="Georgia"/>
              </a:rPr>
              <a:t>One Night, Built for the Company</a:t>
            </a:r>
          </a:p>
        </p:txBody>
      </p:sp>
      <p:sp>
        <p:nvSpPr>
          <p:cNvPr id="8" name="Rounded Rectangle 7"/>
          <p:cNvSpPr/>
          <p:nvPr/>
        </p:nvSpPr>
        <p:spPr>
          <a:xfrm>
            <a:off x="777240" y="1783080"/>
            <a:ext cx="2606040" cy="1737360"/>
          </a:xfrm>
          <a:prstGeom prst="roundRect">
            <a:avLst/>
          </a:prstGeom>
          <a:solidFill>
            <a:srgbClr val="FFFFFF"/>
          </a:solidFill>
          <a:ln w="9525">
            <a:solidFill>
              <a:srgbClr val="E0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92807"/>
            <a:ext cx="2331720" cy="274320"/>
          </a:xfrm>
          <a:prstGeom prst="rect">
            <a:avLst/>
          </a:prstGeom>
          <a:noFill/>
        </p:spPr>
        <p:txBody>
          <a:bodyPr wrap="square" anchor="t">
            <a:spAutoFit/>
          </a:bodyPr>
          <a:lstStyle/>
          <a:p>
            <a:pPr algn="l">
              <a:spcBef>
                <a:spcPts val="0"/>
              </a:spcBef>
              <a:spcAft>
                <a:spcPts val="0"/>
              </a:spcAft>
            </a:pPr>
            <a:r>
              <a:rPr sz="1000" b="1">
                <a:solidFill>
                  <a:srgbClr val="B08A52"/>
                </a:solidFill>
                <a:latin typeface="Segoe UI"/>
              </a:rPr>
              <a:t>TOTAL RAISED</a:t>
            </a:r>
          </a:p>
        </p:txBody>
      </p:sp>
      <p:sp>
        <p:nvSpPr>
          <p:cNvPr id="10" name="TextBox 9"/>
          <p:cNvSpPr txBox="1"/>
          <p:nvPr/>
        </p:nvSpPr>
        <p:spPr>
          <a:xfrm>
            <a:off x="896112" y="2167128"/>
            <a:ext cx="2368296" cy="640080"/>
          </a:xfrm>
          <a:prstGeom prst="rect">
            <a:avLst/>
          </a:prstGeom>
          <a:noFill/>
        </p:spPr>
        <p:txBody>
          <a:bodyPr wrap="square" anchor="t">
            <a:spAutoFit/>
          </a:bodyPr>
          <a:lstStyle/>
          <a:p>
            <a:pPr algn="l">
              <a:spcBef>
                <a:spcPts val="0"/>
              </a:spcBef>
              <a:spcAft>
                <a:spcPts val="0"/>
              </a:spcAft>
            </a:pPr>
            <a:r>
              <a:rPr sz="3000" b="1">
                <a:solidFill>
                  <a:srgbClr val="5E2336"/>
                </a:solidFill>
                <a:latin typeface="Georgia"/>
              </a:rPr>
              <a:t>452,000</a:t>
            </a:r>
          </a:p>
        </p:txBody>
      </p:sp>
      <p:sp>
        <p:nvSpPr>
          <p:cNvPr id="11" name="TextBox 10"/>
          <p:cNvSpPr txBox="1"/>
          <p:nvPr/>
        </p:nvSpPr>
        <p:spPr>
          <a:xfrm>
            <a:off x="914400" y="3063239"/>
            <a:ext cx="2331720" cy="411480"/>
          </a:xfrm>
          <a:prstGeom prst="rect">
            <a:avLst/>
          </a:prstGeom>
          <a:noFill/>
        </p:spPr>
        <p:txBody>
          <a:bodyPr wrap="square" anchor="t">
            <a:spAutoFit/>
          </a:bodyPr>
          <a:lstStyle/>
          <a:p>
            <a:pPr algn="l">
              <a:spcBef>
                <a:spcPts val="0"/>
              </a:spcBef>
              <a:spcAft>
                <a:spcPts val="0"/>
              </a:spcAft>
            </a:pPr>
            <a:r>
              <a:rPr sz="1050" b="0">
                <a:solidFill>
                  <a:srgbClr val="736A72"/>
                </a:solidFill>
                <a:latin typeface="Segoe UI"/>
              </a:rPr>
              <a:t>Against a goal of 450,000</a:t>
            </a:r>
          </a:p>
        </p:txBody>
      </p:sp>
      <p:sp>
        <p:nvSpPr>
          <p:cNvPr id="12" name="Rounded Rectangle 11"/>
          <p:cNvSpPr/>
          <p:nvPr/>
        </p:nvSpPr>
        <p:spPr>
          <a:xfrm>
            <a:off x="3611880" y="1783080"/>
            <a:ext cx="2606040" cy="1737360"/>
          </a:xfrm>
          <a:prstGeom prst="roundRect">
            <a:avLst/>
          </a:prstGeom>
          <a:solidFill>
            <a:srgbClr val="FFFFFF"/>
          </a:solidFill>
          <a:ln w="9525">
            <a:solidFill>
              <a:srgbClr val="E0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49040" y="1892807"/>
            <a:ext cx="2331720" cy="274320"/>
          </a:xfrm>
          <a:prstGeom prst="rect">
            <a:avLst/>
          </a:prstGeom>
          <a:noFill/>
        </p:spPr>
        <p:txBody>
          <a:bodyPr wrap="square" anchor="t">
            <a:spAutoFit/>
          </a:bodyPr>
          <a:lstStyle/>
          <a:p>
            <a:pPr algn="l">
              <a:spcBef>
                <a:spcPts val="0"/>
              </a:spcBef>
              <a:spcAft>
                <a:spcPts val="0"/>
              </a:spcAft>
            </a:pPr>
            <a:r>
              <a:rPr sz="1000" b="1">
                <a:solidFill>
                  <a:srgbClr val="B08A52"/>
                </a:solidFill>
                <a:latin typeface="Segoe UI"/>
              </a:rPr>
              <a:t>NET TO THE COMPANY</a:t>
            </a:r>
          </a:p>
        </p:txBody>
      </p:sp>
      <p:sp>
        <p:nvSpPr>
          <p:cNvPr id="14" name="TextBox 13"/>
          <p:cNvSpPr txBox="1"/>
          <p:nvPr/>
        </p:nvSpPr>
        <p:spPr>
          <a:xfrm>
            <a:off x="3730752" y="2167128"/>
            <a:ext cx="2368296" cy="640080"/>
          </a:xfrm>
          <a:prstGeom prst="rect">
            <a:avLst/>
          </a:prstGeom>
          <a:noFill/>
        </p:spPr>
        <p:txBody>
          <a:bodyPr wrap="square" anchor="t">
            <a:spAutoFit/>
          </a:bodyPr>
          <a:lstStyle/>
          <a:p>
            <a:pPr algn="l">
              <a:spcBef>
                <a:spcPts val="0"/>
              </a:spcBef>
              <a:spcAft>
                <a:spcPts val="0"/>
              </a:spcAft>
            </a:pPr>
            <a:r>
              <a:rPr sz="3000" b="1">
                <a:solidFill>
                  <a:srgbClr val="5E2336"/>
                </a:solidFill>
                <a:latin typeface="Georgia"/>
              </a:rPr>
              <a:t>355,500</a:t>
            </a:r>
          </a:p>
        </p:txBody>
      </p:sp>
      <p:sp>
        <p:nvSpPr>
          <p:cNvPr id="15" name="TextBox 14"/>
          <p:cNvSpPr txBox="1"/>
          <p:nvPr/>
        </p:nvSpPr>
        <p:spPr>
          <a:xfrm>
            <a:off x="3749040" y="3063239"/>
            <a:ext cx="2331720" cy="411480"/>
          </a:xfrm>
          <a:prstGeom prst="rect">
            <a:avLst/>
          </a:prstGeom>
          <a:noFill/>
        </p:spPr>
        <p:txBody>
          <a:bodyPr wrap="square" anchor="t">
            <a:spAutoFit/>
          </a:bodyPr>
          <a:lstStyle/>
          <a:p>
            <a:pPr algn="l">
              <a:spcBef>
                <a:spcPts val="0"/>
              </a:spcBef>
              <a:spcAft>
                <a:spcPts val="0"/>
              </a:spcAft>
            </a:pPr>
            <a:r>
              <a:rPr sz="1050" b="0">
                <a:solidFill>
                  <a:srgbClr val="736A72"/>
                </a:solidFill>
                <a:latin typeface="Segoe UI"/>
              </a:rPr>
              <a:t>After event costs</a:t>
            </a:r>
          </a:p>
        </p:txBody>
      </p:sp>
      <p:sp>
        <p:nvSpPr>
          <p:cNvPr id="16" name="Rounded Rectangle 15"/>
          <p:cNvSpPr/>
          <p:nvPr/>
        </p:nvSpPr>
        <p:spPr>
          <a:xfrm>
            <a:off x="6446520" y="1783080"/>
            <a:ext cx="2606040" cy="1737360"/>
          </a:xfrm>
          <a:prstGeom prst="roundRect">
            <a:avLst/>
          </a:prstGeom>
          <a:solidFill>
            <a:srgbClr val="FFFFFF"/>
          </a:solidFill>
          <a:ln w="9525">
            <a:solidFill>
              <a:srgbClr val="E0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0" y="1892807"/>
            <a:ext cx="2331720" cy="274320"/>
          </a:xfrm>
          <a:prstGeom prst="rect">
            <a:avLst/>
          </a:prstGeom>
          <a:noFill/>
        </p:spPr>
        <p:txBody>
          <a:bodyPr wrap="square" anchor="t">
            <a:spAutoFit/>
          </a:bodyPr>
          <a:lstStyle/>
          <a:p>
            <a:pPr algn="l">
              <a:spcBef>
                <a:spcPts val="0"/>
              </a:spcBef>
              <a:spcAft>
                <a:spcPts val="0"/>
              </a:spcAft>
            </a:pPr>
            <a:r>
              <a:rPr sz="1000" b="1">
                <a:solidFill>
                  <a:srgbClr val="B08A52"/>
                </a:solidFill>
                <a:latin typeface="Segoe UI"/>
              </a:rPr>
              <a:t>TABLES SOLD</a:t>
            </a:r>
          </a:p>
        </p:txBody>
      </p:sp>
      <p:sp>
        <p:nvSpPr>
          <p:cNvPr id="18" name="TextBox 17"/>
          <p:cNvSpPr txBox="1"/>
          <p:nvPr/>
        </p:nvSpPr>
        <p:spPr>
          <a:xfrm>
            <a:off x="6565392" y="2167128"/>
            <a:ext cx="2368296" cy="640080"/>
          </a:xfrm>
          <a:prstGeom prst="rect">
            <a:avLst/>
          </a:prstGeom>
          <a:noFill/>
        </p:spPr>
        <p:txBody>
          <a:bodyPr wrap="square" anchor="t">
            <a:spAutoFit/>
          </a:bodyPr>
          <a:lstStyle/>
          <a:p>
            <a:pPr algn="l">
              <a:spcBef>
                <a:spcPts val="0"/>
              </a:spcBef>
              <a:spcAft>
                <a:spcPts val="0"/>
              </a:spcAft>
            </a:pPr>
            <a:r>
              <a:rPr sz="3000" b="1">
                <a:solidFill>
                  <a:srgbClr val="5E2336"/>
                </a:solidFill>
                <a:latin typeface="Georgia"/>
              </a:rPr>
              <a:t>22</a:t>
            </a:r>
          </a:p>
        </p:txBody>
      </p:sp>
      <p:sp>
        <p:nvSpPr>
          <p:cNvPr id="19" name="TextBox 18"/>
          <p:cNvSpPr txBox="1"/>
          <p:nvPr/>
        </p:nvSpPr>
        <p:spPr>
          <a:xfrm>
            <a:off x="6583680" y="3063239"/>
            <a:ext cx="2331720" cy="411480"/>
          </a:xfrm>
          <a:prstGeom prst="rect">
            <a:avLst/>
          </a:prstGeom>
          <a:noFill/>
        </p:spPr>
        <p:txBody>
          <a:bodyPr wrap="square" anchor="t">
            <a:spAutoFit/>
          </a:bodyPr>
          <a:lstStyle/>
          <a:p>
            <a:pPr algn="l">
              <a:spcBef>
                <a:spcPts val="0"/>
              </a:spcBef>
              <a:spcAft>
                <a:spcPts val="0"/>
              </a:spcAft>
            </a:pPr>
            <a:r>
              <a:rPr sz="1050" b="0">
                <a:solidFill>
                  <a:srgbClr val="736A72"/>
                </a:solidFill>
                <a:latin typeface="Segoe UI"/>
              </a:rPr>
              <a:t>At the 6,000 and 10,000 levels</a:t>
            </a:r>
          </a:p>
        </p:txBody>
      </p:sp>
      <p:sp>
        <p:nvSpPr>
          <p:cNvPr id="20" name="Rounded Rectangle 19"/>
          <p:cNvSpPr/>
          <p:nvPr/>
        </p:nvSpPr>
        <p:spPr>
          <a:xfrm>
            <a:off x="9281160" y="1783080"/>
            <a:ext cx="2103120" cy="1737360"/>
          </a:xfrm>
          <a:prstGeom prst="roundRect">
            <a:avLst/>
          </a:prstGeom>
          <a:solidFill>
            <a:srgbClr val="FFFFFF"/>
          </a:solidFill>
          <a:ln w="9525">
            <a:solidFill>
              <a:srgbClr val="E0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0" y="1892807"/>
            <a:ext cx="1828799" cy="274320"/>
          </a:xfrm>
          <a:prstGeom prst="rect">
            <a:avLst/>
          </a:prstGeom>
          <a:noFill/>
        </p:spPr>
        <p:txBody>
          <a:bodyPr wrap="square" anchor="t">
            <a:spAutoFit/>
          </a:bodyPr>
          <a:lstStyle/>
          <a:p>
            <a:pPr algn="l">
              <a:spcBef>
                <a:spcPts val="0"/>
              </a:spcBef>
              <a:spcAft>
                <a:spcPts val="0"/>
              </a:spcAft>
            </a:pPr>
            <a:r>
              <a:rPr sz="1000" b="1">
                <a:solidFill>
                  <a:srgbClr val="B08A52"/>
                </a:solidFill>
                <a:latin typeface="Segoe UI"/>
              </a:rPr>
              <a:t>INDIVIDUAL GUESTS</a:t>
            </a:r>
          </a:p>
        </p:txBody>
      </p:sp>
      <p:sp>
        <p:nvSpPr>
          <p:cNvPr id="22" name="TextBox 21"/>
          <p:cNvSpPr txBox="1"/>
          <p:nvPr/>
        </p:nvSpPr>
        <p:spPr>
          <a:xfrm>
            <a:off x="9400032" y="2167128"/>
            <a:ext cx="1865376" cy="640080"/>
          </a:xfrm>
          <a:prstGeom prst="rect">
            <a:avLst/>
          </a:prstGeom>
          <a:noFill/>
        </p:spPr>
        <p:txBody>
          <a:bodyPr wrap="square" anchor="t">
            <a:spAutoFit/>
          </a:bodyPr>
          <a:lstStyle/>
          <a:p>
            <a:pPr algn="l">
              <a:spcBef>
                <a:spcPts val="0"/>
              </a:spcBef>
              <a:spcAft>
                <a:spcPts val="0"/>
              </a:spcAft>
            </a:pPr>
            <a:r>
              <a:rPr sz="3000" b="1">
                <a:solidFill>
                  <a:srgbClr val="5E2336"/>
                </a:solidFill>
                <a:latin typeface="Georgia"/>
              </a:rPr>
              <a:t>168</a:t>
            </a:r>
          </a:p>
        </p:txBody>
      </p:sp>
      <p:sp>
        <p:nvSpPr>
          <p:cNvPr id="23" name="TextBox 22"/>
          <p:cNvSpPr txBox="1"/>
          <p:nvPr/>
        </p:nvSpPr>
        <p:spPr>
          <a:xfrm>
            <a:off x="9418320" y="3063239"/>
            <a:ext cx="1828799" cy="411480"/>
          </a:xfrm>
          <a:prstGeom prst="rect">
            <a:avLst/>
          </a:prstGeom>
          <a:noFill/>
        </p:spPr>
        <p:txBody>
          <a:bodyPr wrap="square" anchor="t">
            <a:spAutoFit/>
          </a:bodyPr>
          <a:lstStyle/>
          <a:p>
            <a:pPr algn="l">
              <a:spcBef>
                <a:spcPts val="0"/>
              </a:spcBef>
              <a:spcAft>
                <a:spcPts val="0"/>
              </a:spcAft>
            </a:pPr>
            <a:r>
              <a:rPr sz="1050" b="0">
                <a:solidFill>
                  <a:srgbClr val="736A72"/>
                </a:solidFill>
                <a:latin typeface="Segoe UI"/>
              </a:rPr>
              <a:t>Seated at 500 each</a:t>
            </a:r>
          </a:p>
        </p:txBody>
      </p:sp>
      <p:sp>
        <p:nvSpPr>
          <p:cNvPr id="24" name="TextBox 23"/>
          <p:cNvSpPr txBox="1"/>
          <p:nvPr/>
        </p:nvSpPr>
        <p:spPr>
          <a:xfrm>
            <a:off x="777240" y="3931920"/>
            <a:ext cx="10607040" cy="1463040"/>
          </a:xfrm>
          <a:prstGeom prst="rect">
            <a:avLst/>
          </a:prstGeom>
          <a:noFill/>
        </p:spPr>
        <p:txBody>
          <a:bodyPr wrap="square" anchor="t">
            <a:spAutoFit/>
          </a:bodyPr>
          <a:lstStyle/>
          <a:p>
            <a:pPr algn="l">
              <a:spcBef>
                <a:spcPts val="0"/>
              </a:spcBef>
              <a:spcAft>
                <a:spcPts val="0"/>
              </a:spcAft>
            </a:pPr>
            <a:r>
              <a:rPr sz="1400" b="0">
                <a:solidFill>
                  <a:srgbClr val="241A20"/>
                </a:solidFill>
                <a:latin typeface="Georgia"/>
              </a:rPr>
              <a:t>The evening met its goal for the third year running. Leadership and benefactor tables anchored the room, the silent auction outperformed projection, and the paddle raise closed the gap. Every dollar above cost goes straight to the season.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0"/>
            <a:ext cx="12191695" cy="27432"/>
          </a:xfrm>
          <a:prstGeom prst="rect">
            <a:avLst/>
          </a:prstGeom>
          <a:solidFill>
            <a:srgbClr val="E0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457200"/>
            <a:ext cx="109728" cy="566928"/>
          </a:xfrm>
          <a:prstGeom prst="rect">
            <a:avLst/>
          </a:prstGeom>
          <a:solidFill>
            <a:srgbClr val="5E23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384048"/>
            <a:ext cx="10058400" cy="320040"/>
          </a:xfrm>
          <a:prstGeom prst="rect">
            <a:avLst/>
          </a:prstGeom>
          <a:noFill/>
        </p:spPr>
        <p:txBody>
          <a:bodyPr wrap="square" anchor="t">
            <a:spAutoFit/>
          </a:bodyPr>
          <a:lstStyle/>
          <a:p>
            <a:pPr algn="l">
              <a:spcBef>
                <a:spcPts val="0"/>
              </a:spcBef>
              <a:spcAft>
                <a:spcPts val="0"/>
              </a:spcAft>
            </a:pPr>
            <a:r>
              <a:rPr sz="1200" b="1">
                <a:solidFill>
                  <a:srgbClr val="B08A52"/>
                </a:solidFill>
                <a:latin typeface="Segoe UI"/>
              </a:rPr>
              <a:t>WHERE THE GIFT COMES FROM</a:t>
            </a:r>
          </a:p>
        </p:txBody>
      </p:sp>
      <p:sp>
        <p:nvSpPr>
          <p:cNvPr id="7" name="TextBox 6"/>
          <p:cNvSpPr txBox="1"/>
          <p:nvPr/>
        </p:nvSpPr>
        <p:spPr>
          <a:xfrm>
            <a:off x="777240" y="603504"/>
            <a:ext cx="10972800" cy="640080"/>
          </a:xfrm>
          <a:prstGeom prst="rect">
            <a:avLst/>
          </a:prstGeom>
          <a:noFill/>
        </p:spPr>
        <p:txBody>
          <a:bodyPr wrap="square" anchor="t">
            <a:spAutoFit/>
          </a:bodyPr>
          <a:lstStyle/>
          <a:p>
            <a:pPr algn="l">
              <a:spcBef>
                <a:spcPts val="0"/>
              </a:spcBef>
              <a:spcAft>
                <a:spcPts val="0"/>
              </a:spcAft>
            </a:pPr>
            <a:r>
              <a:rPr sz="2600" b="0">
                <a:solidFill>
                  <a:srgbClr val="241A20"/>
                </a:solidFill>
                <a:latin typeface="Georgia"/>
              </a:rPr>
              <a:t>Revenue by Source</a:t>
            </a:r>
          </a:p>
        </p:txBody>
      </p:sp>
      <p:graphicFrame>
        <p:nvGraphicFramePr>
          <p:cNvPr id="8" name="Chart 7"/>
          <p:cNvGraphicFramePr>
            <a:graphicFrameLocks noGrp="1"/>
          </p:cNvGraphicFramePr>
          <p:nvPr/>
        </p:nvGraphicFramePr>
        <p:xfrm>
          <a:off x="640080" y="1783080"/>
          <a:ext cx="6583680" cy="4572000"/>
        </p:xfrm>
        <a:graphic>
          <a:graphicData uri="http://schemas.openxmlformats.org/drawingml/2006/chart">
            <c:chart xmlns:c="http://schemas.openxmlformats.org/drawingml/2006/chart" r:id="rId2"/>
          </a:graphicData>
        </a:graphic>
      </p:graphicFrame>
      <p:sp>
        <p:nvSpPr>
          <p:cNvPr id="9" name="TextBox 8"/>
          <p:cNvSpPr txBox="1"/>
          <p:nvPr/>
        </p:nvSpPr>
        <p:spPr>
          <a:xfrm>
            <a:off x="7589520" y="2194560"/>
            <a:ext cx="3931920" cy="3200400"/>
          </a:xfrm>
          <a:prstGeom prst="rect">
            <a:avLst/>
          </a:prstGeom>
          <a:noFill/>
        </p:spPr>
        <p:txBody>
          <a:bodyPr wrap="square" anchor="t">
            <a:spAutoFit/>
          </a:bodyPr>
          <a:lstStyle/>
          <a:p>
            <a:pPr algn="l">
              <a:spcBef>
                <a:spcPts val="0"/>
              </a:spcBef>
              <a:spcAft>
                <a:spcPts val="200"/>
              </a:spcAft>
            </a:pPr>
            <a:r>
              <a:rPr sz="1300" b="1">
                <a:solidFill>
                  <a:srgbClr val="B08A52"/>
                </a:solidFill>
                <a:latin typeface="Segoe UI"/>
              </a:rPr>
              <a:t>Total raised</a:t>
            </a:r>
          </a:p>
          <a:p>
            <a:pPr algn="l">
              <a:spcBef>
                <a:spcPts val="0"/>
              </a:spcBef>
              <a:spcAft>
                <a:spcPts val="1400"/>
              </a:spcAft>
            </a:pPr>
            <a:r>
              <a:rPr sz="2600" b="1">
                <a:solidFill>
                  <a:srgbClr val="5E2336"/>
                </a:solidFill>
                <a:latin typeface="Segoe UI"/>
              </a:rPr>
              <a:t>452,000 dollars</a:t>
            </a:r>
          </a:p>
          <a:p>
            <a:pPr algn="l">
              <a:spcBef>
                <a:spcPts val="0"/>
              </a:spcBef>
              <a:spcAft>
                <a:spcPts val="0"/>
              </a:spcAft>
            </a:pPr>
            <a:r>
              <a:rPr sz="1300" b="0">
                <a:solidFill>
                  <a:srgbClr val="736A72"/>
                </a:solidFill>
                <a:latin typeface="Segoe UI"/>
              </a:rPr>
              <a:t>Tables of ten were offered at the 6,000 and 10,000 levels. Individual seats were 500 dollars. The auction and paddle raise together brought in 204,000.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0"/>
            <a:ext cx="12191695" cy="27432"/>
          </a:xfrm>
          <a:prstGeom prst="rect">
            <a:avLst/>
          </a:prstGeom>
          <a:solidFill>
            <a:srgbClr val="E0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457200"/>
            <a:ext cx="109728" cy="566928"/>
          </a:xfrm>
          <a:prstGeom prst="rect">
            <a:avLst/>
          </a:prstGeom>
          <a:solidFill>
            <a:srgbClr val="5E23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384048"/>
            <a:ext cx="10058400" cy="320040"/>
          </a:xfrm>
          <a:prstGeom prst="rect">
            <a:avLst/>
          </a:prstGeom>
          <a:noFill/>
        </p:spPr>
        <p:txBody>
          <a:bodyPr wrap="square" anchor="t">
            <a:spAutoFit/>
          </a:bodyPr>
          <a:lstStyle/>
          <a:p>
            <a:pPr algn="l">
              <a:spcBef>
                <a:spcPts val="0"/>
              </a:spcBef>
              <a:spcAft>
                <a:spcPts val="0"/>
              </a:spcAft>
            </a:pPr>
            <a:r>
              <a:rPr sz="1200" b="1">
                <a:solidFill>
                  <a:srgbClr val="B08A52"/>
                </a:solidFill>
                <a:latin typeface="Segoe UI"/>
              </a:rPr>
              <a:t>WHERE YOUR SUPPORT GOES</a:t>
            </a:r>
          </a:p>
        </p:txBody>
      </p:sp>
      <p:sp>
        <p:nvSpPr>
          <p:cNvPr id="7" name="TextBox 6"/>
          <p:cNvSpPr txBox="1"/>
          <p:nvPr/>
        </p:nvSpPr>
        <p:spPr>
          <a:xfrm>
            <a:off x="777240" y="603504"/>
            <a:ext cx="10972800" cy="640080"/>
          </a:xfrm>
          <a:prstGeom prst="rect">
            <a:avLst/>
          </a:prstGeom>
          <a:noFill/>
        </p:spPr>
        <p:txBody>
          <a:bodyPr wrap="square" anchor="t">
            <a:spAutoFit/>
          </a:bodyPr>
          <a:lstStyle/>
          <a:p>
            <a:pPr algn="l">
              <a:spcBef>
                <a:spcPts val="0"/>
              </a:spcBef>
              <a:spcAft>
                <a:spcPts val="0"/>
              </a:spcAft>
            </a:pPr>
            <a:r>
              <a:rPr sz="2600" b="0">
                <a:solidFill>
                  <a:srgbClr val="241A20"/>
                </a:solidFill>
                <a:latin typeface="Georgia"/>
              </a:rPr>
              <a:t>The 355,500 at Work</a:t>
            </a:r>
          </a:p>
        </p:txBody>
      </p:sp>
      <p:graphicFrame>
        <p:nvGraphicFramePr>
          <p:cNvPr id="8" name="Chart 7"/>
          <p:cNvGraphicFramePr>
            <a:graphicFrameLocks noGrp="1"/>
          </p:cNvGraphicFramePr>
          <p:nvPr/>
        </p:nvGraphicFramePr>
        <p:xfrm>
          <a:off x="640080" y="1783080"/>
          <a:ext cx="7315200" cy="4572000"/>
        </p:xfrm>
        <a:graphic>
          <a:graphicData uri="http://schemas.openxmlformats.org/drawingml/2006/chart">
            <c:chart xmlns:c="http://schemas.openxmlformats.org/drawingml/2006/chart" r:id="rId2"/>
          </a:graphicData>
        </a:graphic>
      </p:graphicFrame>
      <p:sp>
        <p:nvSpPr>
          <p:cNvPr id="9" name="TextBox 8"/>
          <p:cNvSpPr txBox="1"/>
          <p:nvPr/>
        </p:nvSpPr>
        <p:spPr>
          <a:xfrm>
            <a:off x="8229600" y="2194560"/>
            <a:ext cx="3383280" cy="3657600"/>
          </a:xfrm>
          <a:prstGeom prst="rect">
            <a:avLst/>
          </a:prstGeom>
          <a:noFill/>
        </p:spPr>
        <p:txBody>
          <a:bodyPr wrap="square" anchor="t">
            <a:spAutoFit/>
          </a:bodyPr>
          <a:lstStyle/>
          <a:p>
            <a:pPr algn="l">
              <a:spcBef>
                <a:spcPts val="0"/>
              </a:spcBef>
              <a:spcAft>
                <a:spcPts val="200"/>
              </a:spcAft>
            </a:pPr>
            <a:r>
              <a:rPr sz="1600" b="0">
                <a:solidFill>
                  <a:srgbClr val="241A20"/>
                </a:solidFill>
                <a:latin typeface="Georgia"/>
              </a:rPr>
              <a:t>Restraint on cost,</a:t>
            </a:r>
          </a:p>
          <a:p>
            <a:pPr algn="l">
              <a:spcBef>
                <a:spcPts val="0"/>
              </a:spcBef>
              <a:spcAft>
                <a:spcPts val="1200"/>
              </a:spcAft>
            </a:pPr>
            <a:r>
              <a:rPr sz="1600" b="0">
                <a:solidFill>
                  <a:srgbClr val="241A20"/>
                </a:solidFill>
                <a:latin typeface="Georgia"/>
              </a:rPr>
              <a:t>ambition on stage.</a:t>
            </a:r>
          </a:p>
          <a:p>
            <a:pPr algn="l">
              <a:spcBef>
                <a:spcPts val="0"/>
              </a:spcBef>
              <a:spcAft>
                <a:spcPts val="0"/>
              </a:spcAft>
            </a:pPr>
            <a:r>
              <a:rPr sz="1300" b="0">
                <a:solidFill>
                  <a:srgbClr val="736A72"/>
                </a:solidFill>
                <a:latin typeface="Georgia"/>
              </a:rPr>
              <a:t>The gala underwrites the parts of a season that ticket sales never quite reach. It is the extra week that turns a good performance into one people remember.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g_e.jpg"/>
          <p:cNvPicPr>
            <a:picLocks noChangeAspect="1"/>
          </p:cNvPicPr>
          <p:nvPr/>
        </p:nvPicPr>
        <p:blipFill>
          <a:blip r:embed="rId2"/>
          <a:stretch>
            <a:fillRect/>
          </a:stretch>
        </p:blipFill>
        <p:spPr>
          <a:xfrm>
            <a:off x="0" y="0"/>
            <a:ext cx="5486400" cy="6858000"/>
          </a:xfrm>
          <a:prstGeom prst="rect">
            <a:avLst/>
          </a:prstGeom>
        </p:spPr>
      </p:pic>
      <p:sp>
        <p:nvSpPr>
          <p:cNvPr id="4" name="Rectangle 3"/>
          <p:cNvSpPr/>
          <p:nvPr/>
        </p:nvSpPr>
        <p:spPr>
          <a:xfrm>
            <a:off x="5486400" y="0"/>
            <a:ext cx="54864" cy="6858000"/>
          </a:xfrm>
          <a:prstGeom prst="rect">
            <a:avLst/>
          </a:prstGeom>
          <a:solidFill>
            <a:srgbClr val="B08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35040" y="1371600"/>
            <a:ext cx="5669280" cy="365760"/>
          </a:xfrm>
          <a:prstGeom prst="rect">
            <a:avLst/>
          </a:prstGeom>
          <a:noFill/>
        </p:spPr>
        <p:txBody>
          <a:bodyPr wrap="square" anchor="t">
            <a:spAutoFit/>
          </a:bodyPr>
          <a:lstStyle/>
          <a:p>
            <a:pPr algn="l">
              <a:spcBef>
                <a:spcPts val="0"/>
              </a:spcBef>
              <a:spcAft>
                <a:spcPts val="0"/>
              </a:spcAft>
            </a:pPr>
            <a:r>
              <a:rPr sz="1200" b="1">
                <a:solidFill>
                  <a:srgbClr val="B08A52"/>
                </a:solidFill>
                <a:latin typeface="Segoe UI"/>
              </a:rPr>
              <a:t>WHAT IT MAKES POSSIBLE</a:t>
            </a:r>
          </a:p>
        </p:txBody>
      </p:sp>
      <p:sp>
        <p:nvSpPr>
          <p:cNvPr id="6" name="TextBox 5"/>
          <p:cNvSpPr txBox="1"/>
          <p:nvPr/>
        </p:nvSpPr>
        <p:spPr>
          <a:xfrm>
            <a:off x="6035040" y="1783080"/>
            <a:ext cx="5669280" cy="914400"/>
          </a:xfrm>
          <a:prstGeom prst="rect">
            <a:avLst/>
          </a:prstGeom>
          <a:noFill/>
        </p:spPr>
        <p:txBody>
          <a:bodyPr wrap="square" anchor="t">
            <a:spAutoFit/>
          </a:bodyPr>
          <a:lstStyle/>
          <a:p>
            <a:pPr algn="l">
              <a:spcBef>
                <a:spcPts val="0"/>
              </a:spcBef>
              <a:spcAft>
                <a:spcPts val="0"/>
              </a:spcAft>
            </a:pPr>
            <a:r>
              <a:rPr sz="2800" b="0">
                <a:solidFill>
                  <a:srgbClr val="241A20"/>
                </a:solidFill>
                <a:latin typeface="Georgia"/>
              </a:rPr>
              <a:t>The Apprentice Who Stays</a:t>
            </a:r>
          </a:p>
        </p:txBody>
      </p:sp>
      <p:sp>
        <p:nvSpPr>
          <p:cNvPr id="7" name="TextBox 6"/>
          <p:cNvSpPr txBox="1"/>
          <p:nvPr/>
        </p:nvSpPr>
        <p:spPr>
          <a:xfrm>
            <a:off x="6035040" y="2743200"/>
            <a:ext cx="5577840" cy="3108960"/>
          </a:xfrm>
          <a:prstGeom prst="rect">
            <a:avLst/>
          </a:prstGeom>
          <a:noFill/>
        </p:spPr>
        <p:txBody>
          <a:bodyPr wrap="square" anchor="t">
            <a:spAutoFit/>
          </a:bodyPr>
          <a:lstStyle/>
          <a:p>
            <a:pPr algn="l">
              <a:spcBef>
                <a:spcPts val="0"/>
              </a:spcBef>
              <a:spcAft>
                <a:spcPts val="1000"/>
              </a:spcAft>
            </a:pPr>
            <a:r>
              <a:rPr sz="1500" b="0">
                <a:solidFill>
                  <a:srgbClr val="241A20"/>
                </a:solidFill>
                <a:latin typeface="Georgia"/>
              </a:rPr>
              <a:t>A gala table is the apprentice who can afford to stay another year. It is the pointe shoes that carry a principal through a run of eight. It is the original pas de deux built for one spring night.</a:t>
            </a:r>
          </a:p>
          <a:p>
            <a:pPr algn="l">
              <a:spcBef>
                <a:spcPts val="0"/>
              </a:spcBef>
              <a:spcAft>
                <a:spcPts val="0"/>
              </a:spcAft>
            </a:pPr>
            <a:r>
              <a:rPr sz="1500" b="1">
                <a:solidFill>
                  <a:srgbClr val="5E2336"/>
                </a:solidFill>
                <a:latin typeface="Georgia"/>
              </a:rPr>
              <a:t>Your support is the footing under all of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0"/>
            <a:ext cx="12191695" cy="27432"/>
          </a:xfrm>
          <a:prstGeom prst="rect">
            <a:avLst/>
          </a:prstGeom>
          <a:solidFill>
            <a:srgbClr val="E0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457200"/>
            <a:ext cx="109728" cy="566928"/>
          </a:xfrm>
          <a:prstGeom prst="rect">
            <a:avLst/>
          </a:prstGeom>
          <a:solidFill>
            <a:srgbClr val="5E23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384048"/>
            <a:ext cx="10058400" cy="320040"/>
          </a:xfrm>
          <a:prstGeom prst="rect">
            <a:avLst/>
          </a:prstGeom>
          <a:noFill/>
        </p:spPr>
        <p:txBody>
          <a:bodyPr wrap="square" anchor="t">
            <a:spAutoFit/>
          </a:bodyPr>
          <a:lstStyle/>
          <a:p>
            <a:pPr algn="l">
              <a:spcBef>
                <a:spcPts val="0"/>
              </a:spcBef>
              <a:spcAft>
                <a:spcPts val="0"/>
              </a:spcAft>
            </a:pPr>
            <a:r>
              <a:rPr sz="1200" b="1">
                <a:solidFill>
                  <a:srgbClr val="B08A52"/>
                </a:solidFill>
                <a:latin typeface="Segoe UI"/>
              </a:rPr>
              <a:t>THE CASE FOR THIS SPRING</a:t>
            </a:r>
          </a:p>
        </p:txBody>
      </p:sp>
      <p:sp>
        <p:nvSpPr>
          <p:cNvPr id="7" name="TextBox 6"/>
          <p:cNvSpPr txBox="1"/>
          <p:nvPr/>
        </p:nvSpPr>
        <p:spPr>
          <a:xfrm>
            <a:off x="777240" y="603504"/>
            <a:ext cx="10972800" cy="640080"/>
          </a:xfrm>
          <a:prstGeom prst="rect">
            <a:avLst/>
          </a:prstGeom>
          <a:noFill/>
        </p:spPr>
        <p:txBody>
          <a:bodyPr wrap="square" anchor="t">
            <a:spAutoFit/>
          </a:bodyPr>
          <a:lstStyle/>
          <a:p>
            <a:pPr algn="l">
              <a:spcBef>
                <a:spcPts val="0"/>
              </a:spcBef>
              <a:spcAft>
                <a:spcPts val="0"/>
              </a:spcAft>
            </a:pPr>
            <a:r>
              <a:rPr sz="2600" b="0">
                <a:solidFill>
                  <a:srgbClr val="241A20"/>
                </a:solidFill>
                <a:latin typeface="Georgia"/>
              </a:rPr>
              <a:t>An Invitation to Lead</a:t>
            </a:r>
          </a:p>
        </p:txBody>
      </p:sp>
      <p:sp>
        <p:nvSpPr>
          <p:cNvPr id="8" name="Rectangle 7"/>
          <p:cNvSpPr/>
          <p:nvPr/>
        </p:nvSpPr>
        <p:spPr>
          <a:xfrm>
            <a:off x="777240" y="1828800"/>
            <a:ext cx="109728" cy="868680"/>
          </a:xfrm>
          <a:prstGeom prst="rect">
            <a:avLst/>
          </a:prstGeom>
          <a:solidFill>
            <a:srgbClr val="B08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810512"/>
            <a:ext cx="10332720" cy="365760"/>
          </a:xfrm>
          <a:prstGeom prst="rect">
            <a:avLst/>
          </a:prstGeom>
          <a:noFill/>
        </p:spPr>
        <p:txBody>
          <a:bodyPr wrap="square" anchor="t">
            <a:spAutoFit/>
          </a:bodyPr>
          <a:lstStyle/>
          <a:p>
            <a:pPr algn="l">
              <a:spcBef>
                <a:spcPts val="0"/>
              </a:spcBef>
              <a:spcAft>
                <a:spcPts val="0"/>
              </a:spcAft>
            </a:pPr>
            <a:r>
              <a:rPr sz="1600" b="1">
                <a:solidFill>
                  <a:srgbClr val="5E2336"/>
                </a:solidFill>
                <a:latin typeface="Georgia"/>
              </a:rPr>
              <a:t>Renew at your current level</a:t>
            </a:r>
          </a:p>
        </p:txBody>
      </p:sp>
      <p:sp>
        <p:nvSpPr>
          <p:cNvPr id="10" name="TextBox 9"/>
          <p:cNvSpPr txBox="1"/>
          <p:nvPr/>
        </p:nvSpPr>
        <p:spPr>
          <a:xfrm>
            <a:off x="1051560" y="2194560"/>
            <a:ext cx="10332720" cy="457200"/>
          </a:xfrm>
          <a:prstGeom prst="rect">
            <a:avLst/>
          </a:prstGeom>
          <a:noFill/>
        </p:spPr>
        <p:txBody>
          <a:bodyPr wrap="square" anchor="t">
            <a:spAutoFit/>
          </a:bodyPr>
          <a:lstStyle/>
          <a:p>
            <a:pPr algn="l">
              <a:spcBef>
                <a:spcPts val="0"/>
              </a:spcBef>
              <a:spcAft>
                <a:spcPts val="0"/>
              </a:spcAft>
            </a:pPr>
            <a:r>
              <a:rPr sz="1300" b="0">
                <a:solidFill>
                  <a:srgbClr val="736A72"/>
                </a:solidFill>
                <a:latin typeface="Georgia"/>
              </a:rPr>
              <a:t>Tables of ten at 6,000 and 10,000, individual seats at 500.</a:t>
            </a:r>
          </a:p>
        </p:txBody>
      </p:sp>
      <p:sp>
        <p:nvSpPr>
          <p:cNvPr id="11" name="Rectangle 10"/>
          <p:cNvSpPr/>
          <p:nvPr/>
        </p:nvSpPr>
        <p:spPr>
          <a:xfrm>
            <a:off x="777240" y="2880360"/>
            <a:ext cx="109728" cy="868680"/>
          </a:xfrm>
          <a:prstGeom prst="rect">
            <a:avLst/>
          </a:prstGeom>
          <a:solidFill>
            <a:srgbClr val="B08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862072"/>
            <a:ext cx="10332720" cy="365760"/>
          </a:xfrm>
          <a:prstGeom prst="rect">
            <a:avLst/>
          </a:prstGeom>
          <a:noFill/>
        </p:spPr>
        <p:txBody>
          <a:bodyPr wrap="square" anchor="t">
            <a:spAutoFit/>
          </a:bodyPr>
          <a:lstStyle/>
          <a:p>
            <a:pPr algn="l">
              <a:spcBef>
                <a:spcPts val="0"/>
              </a:spcBef>
              <a:spcAft>
                <a:spcPts val="0"/>
              </a:spcAft>
            </a:pPr>
            <a:r>
              <a:rPr sz="1600" b="1">
                <a:solidFill>
                  <a:srgbClr val="5E2336"/>
                </a:solidFill>
                <a:latin typeface="Georgia"/>
              </a:rPr>
              <a:t>Consider the leadership circle</a:t>
            </a:r>
          </a:p>
        </p:txBody>
      </p:sp>
      <p:sp>
        <p:nvSpPr>
          <p:cNvPr id="13" name="TextBox 12"/>
          <p:cNvSpPr txBox="1"/>
          <p:nvPr/>
        </p:nvSpPr>
        <p:spPr>
          <a:xfrm>
            <a:off x="1051560" y="3246120"/>
            <a:ext cx="10332720" cy="457200"/>
          </a:xfrm>
          <a:prstGeom prst="rect">
            <a:avLst/>
          </a:prstGeom>
          <a:noFill/>
        </p:spPr>
        <p:txBody>
          <a:bodyPr wrap="square" anchor="t">
            <a:spAutoFit/>
          </a:bodyPr>
          <a:lstStyle/>
          <a:p>
            <a:pPr algn="l">
              <a:spcBef>
                <a:spcPts val="0"/>
              </a:spcBef>
              <a:spcAft>
                <a:spcPts val="0"/>
              </a:spcAft>
            </a:pPr>
            <a:r>
              <a:rPr sz="1300" b="0">
                <a:solidFill>
                  <a:srgbClr val="736A72"/>
                </a:solidFill>
                <a:latin typeface="Georgia"/>
              </a:rPr>
              <a:t>A small group whose early gifts set the pace for the room.</a:t>
            </a:r>
          </a:p>
        </p:txBody>
      </p:sp>
      <p:sp>
        <p:nvSpPr>
          <p:cNvPr id="14" name="Rectangle 13"/>
          <p:cNvSpPr/>
          <p:nvPr/>
        </p:nvSpPr>
        <p:spPr>
          <a:xfrm>
            <a:off x="777240" y="3931920"/>
            <a:ext cx="109728" cy="868680"/>
          </a:xfrm>
          <a:prstGeom prst="rect">
            <a:avLst/>
          </a:prstGeom>
          <a:solidFill>
            <a:srgbClr val="B08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3913632"/>
            <a:ext cx="10332720" cy="365760"/>
          </a:xfrm>
          <a:prstGeom prst="rect">
            <a:avLst/>
          </a:prstGeom>
          <a:noFill/>
        </p:spPr>
        <p:txBody>
          <a:bodyPr wrap="square" anchor="t">
            <a:spAutoFit/>
          </a:bodyPr>
          <a:lstStyle/>
          <a:p>
            <a:pPr algn="l">
              <a:spcBef>
                <a:spcPts val="0"/>
              </a:spcBef>
              <a:spcAft>
                <a:spcPts val="0"/>
              </a:spcAft>
            </a:pPr>
            <a:r>
              <a:rPr sz="1600" b="1">
                <a:solidFill>
                  <a:srgbClr val="5E2336"/>
                </a:solidFill>
                <a:latin typeface="Georgia"/>
              </a:rPr>
              <a:t>Name a season element</a:t>
            </a:r>
          </a:p>
        </p:txBody>
      </p:sp>
      <p:sp>
        <p:nvSpPr>
          <p:cNvPr id="16" name="TextBox 15"/>
          <p:cNvSpPr txBox="1"/>
          <p:nvPr/>
        </p:nvSpPr>
        <p:spPr>
          <a:xfrm>
            <a:off x="1051560" y="4297680"/>
            <a:ext cx="10332720" cy="457200"/>
          </a:xfrm>
          <a:prstGeom prst="rect">
            <a:avLst/>
          </a:prstGeom>
          <a:noFill/>
        </p:spPr>
        <p:txBody>
          <a:bodyPr wrap="square" anchor="t">
            <a:spAutoFit/>
          </a:bodyPr>
          <a:lstStyle/>
          <a:p>
            <a:pPr algn="l">
              <a:spcBef>
                <a:spcPts val="0"/>
              </a:spcBef>
              <a:spcAft>
                <a:spcPts val="0"/>
              </a:spcAft>
            </a:pPr>
            <a:r>
              <a:rPr sz="1300" b="0">
                <a:solidFill>
                  <a:srgbClr val="736A72"/>
                </a:solidFill>
                <a:latin typeface="Georgia"/>
              </a:rPr>
              <a:t>Underwrite a production, an apprentice, or the new work.</a:t>
            </a:r>
          </a:p>
        </p:txBody>
      </p:sp>
      <p:sp>
        <p:nvSpPr>
          <p:cNvPr id="17" name="Rectangle 16"/>
          <p:cNvSpPr/>
          <p:nvPr/>
        </p:nvSpPr>
        <p:spPr>
          <a:xfrm>
            <a:off x="777240" y="4983479"/>
            <a:ext cx="109728" cy="868680"/>
          </a:xfrm>
          <a:prstGeom prst="rect">
            <a:avLst/>
          </a:prstGeom>
          <a:solidFill>
            <a:srgbClr val="B08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4965192"/>
            <a:ext cx="10332720" cy="365760"/>
          </a:xfrm>
          <a:prstGeom prst="rect">
            <a:avLst/>
          </a:prstGeom>
          <a:noFill/>
        </p:spPr>
        <p:txBody>
          <a:bodyPr wrap="square" anchor="t">
            <a:spAutoFit/>
          </a:bodyPr>
          <a:lstStyle/>
          <a:p>
            <a:pPr algn="l">
              <a:spcBef>
                <a:spcPts val="0"/>
              </a:spcBef>
              <a:spcAft>
                <a:spcPts val="0"/>
              </a:spcAft>
            </a:pPr>
            <a:r>
              <a:rPr sz="1600" b="1">
                <a:solidFill>
                  <a:srgbClr val="5E2336"/>
                </a:solidFill>
                <a:latin typeface="Georgia"/>
              </a:rPr>
              <a:t>Reply by February 20</a:t>
            </a:r>
          </a:p>
        </p:txBody>
      </p:sp>
      <p:sp>
        <p:nvSpPr>
          <p:cNvPr id="19" name="TextBox 18"/>
          <p:cNvSpPr txBox="1"/>
          <p:nvPr/>
        </p:nvSpPr>
        <p:spPr>
          <a:xfrm>
            <a:off x="1051560" y="5349240"/>
            <a:ext cx="10332720" cy="457200"/>
          </a:xfrm>
          <a:prstGeom prst="rect">
            <a:avLst/>
          </a:prstGeom>
          <a:noFill/>
        </p:spPr>
        <p:txBody>
          <a:bodyPr wrap="square" anchor="t">
            <a:spAutoFit/>
          </a:bodyPr>
          <a:lstStyle/>
          <a:p>
            <a:pPr algn="l">
              <a:spcBef>
                <a:spcPts val="0"/>
              </a:spcBef>
              <a:spcAft>
                <a:spcPts val="0"/>
              </a:spcAft>
            </a:pPr>
            <a:r>
              <a:rPr sz="1300" b="0">
                <a:solidFill>
                  <a:srgbClr val="736A72"/>
                </a:solidFill>
                <a:latin typeface="Georgia"/>
              </a:rPr>
              <a:t>So the committee can finalize seating and the program.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