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64008"/>
          </a:xfrm>
          <a:prstGeom prst="rect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3108960" cy="2743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6F3EA"/>
                </a:solidFill>
                <a:latin typeface="Georgia"/>
              </a:rPr>
              <a:t>WILD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B08D3E"/>
                </a:solidFill>
                <a:latin typeface="Georgia"/>
              </a:rPr>
              <a:t>BOTANICA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6766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 i="1">
                <a:solidFill>
                  <a:srgbClr val="F6F3EA"/>
                </a:solidFill>
                <a:latin typeface="Georgia"/>
              </a:rPr>
              <a:t>A Native Wildflower Watercolour Series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F6F3EA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B08D3E"/>
                </a:solidFill>
                <a:latin typeface="Calibri"/>
              </a:rPr>
              <a:t>Catherine Conway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8E0D4"/>
                </a:solidFill>
                <a:latin typeface="Calibri"/>
              </a:rPr>
              <a:t>Meridian Gallery Collective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84632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AA088"/>
                </a:solidFill>
                <a:latin typeface="Calibri"/>
              </a:rPr>
              <a:t>Ashvale Arts Center, Portland  |  Opening January 9, 2027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6F3EA"/>
                </a:solidFill>
                <a:latin typeface="Georgia"/>
              </a:rPr>
              <a:t>Two Ways of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00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1">
                <a:solidFill>
                  <a:srgbClr val="22312A"/>
                </a:solidFill>
                <a:latin typeface="Georgia"/>
              </a:rPr>
              <a:t>I came to botanical illustration the way I came to medicine, through close looking. A plant, like a patient, rewards attention.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800" b="0" i="0">
                <a:solidFill>
                  <a:srgbClr val="22312A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40503F"/>
                </a:solidFill>
                <a:latin typeface="Calibri"/>
              </a:rPr>
              <a:t>Some passages are exact, almost diagnostic, the way a field guide would want them. Others loosen, letting the wash carry more than the line, closer to how a flower reads at a distance in a meadow at golden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828800"/>
            <a:ext cx="3749039" cy="384048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828800"/>
            <a:ext cx="3749039" cy="3840480"/>
          </a:xfrm>
          <a:prstGeom prst="rect">
            <a:avLst/>
          </a:prstGeom>
          <a:noFill/>
          <a:ln w="15240">
            <a:solidFill>
              <a:srgbClr val="B08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286000"/>
            <a:ext cx="3108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08D3E"/>
                </a:solidFill>
                <a:latin typeface="Calibri"/>
              </a:rPr>
              <a:t>THE SERIES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B08D3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6F3EA"/>
                </a:solidFill>
                <a:latin typeface="Georgia"/>
              </a:rPr>
              <a:t>Native wildflowers of the Pacific Northwest, in watercolour on archival cotton rag.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B08D3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1">
                <a:solidFill>
                  <a:srgbClr val="8AA088"/>
                </a:solidFill>
                <a:latin typeface="Calibri"/>
              </a:rPr>
              <a:t>Six framed originals and six fixed-edition titles.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6F3EA"/>
                </a:solidFill>
                <a:latin typeface="Georgia"/>
              </a:rPr>
              <a:t>Featured Works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83080"/>
          <a:ext cx="10515600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2377440"/>
                <a:gridCol w="256032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Piece</a:t>
                      </a:r>
                    </a:p>
                  </a:txBody>
                  <a:tcPr marL="109728" marR="73152" marT="27432" marB="27432" anchor="ctr">
                    <a:solidFill>
                      <a:srgbClr val="2F4A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Image size</a:t>
                      </a:r>
                    </a:p>
                  </a:txBody>
                  <a:tcPr marL="109728" marR="73152" marT="27432" marB="27432" anchor="ctr">
                    <a:solidFill>
                      <a:srgbClr val="2F4A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Frame</a:t>
                      </a:r>
                    </a:p>
                  </a:txBody>
                  <a:tcPr marL="109728" marR="73152" marT="27432" marB="27432" anchor="ctr">
                    <a:solidFill>
                      <a:srgbClr val="2F4A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Wall</a:t>
                      </a:r>
                    </a:p>
                  </a:txBody>
                  <a:tcPr marL="109728" marR="73152" marT="27432" marB="27432" anchor="ctr">
                    <a:solidFill>
                      <a:srgbClr val="2F4A3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Camas Lily Study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16 x 20 in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Natural maple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North 1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Oregon Iris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18 x 24 in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Natural maple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North 2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Lupine Field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24 x 36 in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White oak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North 3, anchor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Trillium Triptych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3 at 12 x 16 in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Natural maple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East 1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Columbine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16 x 20 in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Natural maple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East 2</a:t>
                      </a:r>
                    </a:p>
                  </a:txBody>
                  <a:tcPr marL="109728" marR="73152" marT="27432" marB="27432" anchor="ctr">
                    <a:solidFill>
                      <a:srgbClr val="F6F3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Yarrow and Aster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18 x 24 in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White oak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A4A38"/>
                          </a:solidFill>
                          <a:latin typeface="Georgia"/>
                        </a:rPr>
                        <a:t>East 3</a:t>
                      </a:r>
                    </a:p>
                  </a:txBody>
                  <a:tcPr marL="109728" marR="73152" marT="27432" marB="27432" anchor="ctr">
                    <a:solidFill>
                      <a:srgbClr val="ECE7D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A7566"/>
                </a:solidFill>
                <a:latin typeface="Calibri"/>
              </a:rPr>
              <a:t>All works on 300gsm cotton rag from Ridgemont Fine Papers, UV glazing throughout.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6F3EA"/>
                </a:solidFill>
                <a:latin typeface="Georgia"/>
              </a:rPr>
              <a:t>The Plan to 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2468880" cy="274320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2468880" cy="118872"/>
          </a:xfrm>
          <a:prstGeom prst="rect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560320"/>
            <a:ext cx="457200" cy="457200"/>
          </a:xfrm>
          <a:prstGeom prst="ellipse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6151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42A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9184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08D3E"/>
                </a:solidFill>
                <a:latin typeface="Calibri"/>
              </a:rPr>
              <a:t>October 2026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B08D3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6ECE2"/>
                </a:solidFill>
                <a:latin typeface="Calibri"/>
              </a:rPr>
              <a:t>Finalise framing, confirm UV glazing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194560"/>
            <a:ext cx="2468880" cy="274320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194560"/>
            <a:ext cx="2468880" cy="118872"/>
          </a:xfrm>
          <a:prstGeom prst="rect">
            <a:avLst/>
          </a:prstGeom>
          <a:solidFill>
            <a:srgbClr val="C79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39" y="2560320"/>
            <a:ext cx="457200" cy="457200"/>
          </a:xfrm>
          <a:prstGeom prst="ellipse">
            <a:avLst/>
          </a:prstGeom>
          <a:solidFill>
            <a:srgbClr val="C79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6151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42A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9184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9A47"/>
                </a:solidFill>
                <a:latin typeface="Calibri"/>
              </a:rPr>
              <a:t>November 2026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C79A47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6ECE2"/>
                </a:solidFill>
                <a:latin typeface="Calibri"/>
              </a:rPr>
              <a:t>Edition print run, six titles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2468880" cy="274320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2468880" cy="118872"/>
          </a:xfrm>
          <a:prstGeom prst="rect">
            <a:avLst/>
          </a:prstGeom>
          <a:solidFill>
            <a:srgbClr val="8A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560320"/>
            <a:ext cx="457200" cy="457200"/>
          </a:xfrm>
          <a:prstGeom prst="ellipse">
            <a:avLst/>
          </a:prstGeom>
          <a:solidFill>
            <a:srgbClr val="8A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6151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42A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AA088"/>
                </a:solidFill>
                <a:latin typeface="Calibri"/>
              </a:rPr>
              <a:t>December 2026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8AA088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6ECE2"/>
                </a:solidFill>
                <a:latin typeface="Calibri"/>
              </a:rPr>
              <a:t>Wall labels, custom crate, insurance rider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194560"/>
            <a:ext cx="2468880" cy="274320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194560"/>
            <a:ext cx="2468880" cy="118872"/>
          </a:xfrm>
          <a:prstGeom prst="rect">
            <a:avLst/>
          </a:prstGeom>
          <a:solidFill>
            <a:srgbClr val="C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2560320"/>
            <a:ext cx="457200" cy="457200"/>
          </a:xfrm>
          <a:prstGeom prst="ellipse">
            <a:avLst/>
          </a:prstGeom>
          <a:solidFill>
            <a:srgbClr val="C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26151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42A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9184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FE0C8"/>
                </a:solidFill>
                <a:latin typeface="Calibri"/>
              </a:rPr>
              <a:t>January 2027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CFE0C8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6ECE2"/>
                </a:solidFill>
                <a:latin typeface="Calibri"/>
              </a:rPr>
              <a:t>Hang the walls and open, January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AEBFA7"/>
                </a:solidFill>
                <a:latin typeface="Georgia"/>
              </a:rPr>
              <a:t>The native studies many have watched take shape will finally be on the walls.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6F3EA"/>
                </a:solidFill>
                <a:latin typeface="Georgia"/>
              </a:rPr>
              <a:t>Originals and Editions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3832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18872" cy="18288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F4A39"/>
                </a:solidFill>
                <a:latin typeface="Georgia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604F"/>
                </a:solidFill>
                <a:latin typeface="Calibri"/>
              </a:rPr>
              <a:t>Framed originals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920240"/>
            <a:ext cx="33832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118872" cy="1828800"/>
          </a:xfrm>
          <a:prstGeom prst="rect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24028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08D3E"/>
                </a:solidFill>
                <a:latin typeface="Georgia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604F"/>
                </a:solidFill>
                <a:latin typeface="Calibri"/>
              </a:rPr>
              <a:t>Edition titles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920240"/>
            <a:ext cx="33832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118872" cy="1828800"/>
          </a:xfrm>
          <a:prstGeom prst="rect">
            <a:avLst/>
          </a:prstGeom>
          <a:solidFill>
            <a:srgbClr val="8A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24028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8AA088"/>
                </a:solidFill>
                <a:latin typeface="Georgia"/>
              </a:rPr>
              <a:t>800 to 5,000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604F"/>
                </a:solidFill>
                <a:latin typeface="Calibri"/>
              </a:rPr>
              <a:t>Commission range,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A4A38"/>
                </a:solidFill>
                <a:latin typeface="Calibri"/>
              </a:rPr>
              <a:t>Projected commission income, active months (USD)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692140"/>
            <a:ext cx="1280160" cy="43434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4A38"/>
                </a:solidFill>
                <a:latin typeface="Calibri"/>
              </a:rPr>
              <a:t>950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A7566"/>
                </a:solidFill>
                <a:latin typeface="Calibri"/>
              </a:rPr>
              <a:t>Feb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5760720"/>
            <a:ext cx="1280160" cy="36576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5440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4A38"/>
                </a:solidFill>
                <a:latin typeface="Calibri"/>
              </a:rPr>
              <a:t>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6172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A7566"/>
                </a:solidFill>
                <a:latin typeface="Calibri"/>
              </a:rPr>
              <a:t>Oct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5486400"/>
            <a:ext cx="1280160" cy="64008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1663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4A38"/>
                </a:solidFill>
                <a:latin typeface="Calibri"/>
              </a:rPr>
              <a:t>1,400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6172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A7566"/>
                </a:solidFill>
                <a:latin typeface="Calibri"/>
              </a:rPr>
              <a:t>Nov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983480"/>
            <a:ext cx="1280160" cy="114300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6634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4A38"/>
                </a:solidFill>
                <a:latin typeface="Calibri"/>
              </a:rPr>
              <a:t>2,500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172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A7566"/>
                </a:solidFill>
                <a:latin typeface="Calibri"/>
              </a:rPr>
              <a:t>Dec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4663440"/>
            <a:ext cx="1280160" cy="1463040"/>
          </a:xfrm>
          <a:prstGeom prst="rect">
            <a:avLst/>
          </a:prstGeom>
          <a:solidFill>
            <a:srgbClr val="2F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343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4A38"/>
                </a:solidFill>
                <a:latin typeface="Calibri"/>
              </a:rPr>
              <a:t>3,200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6172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A7566"/>
                </a:solidFill>
                <a:latin typeface="Calibri"/>
              </a:rPr>
              <a:t>Jan 27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F6F3EA"/>
                </a:solidFill>
                <a:latin typeface="Georgia"/>
              </a:rPr>
              <a:t>Botanical art asks you to slow down and look until the plant tells you something true.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08D3E"/>
                </a:solidFill>
                <a:latin typeface="Calibri"/>
              </a:rPr>
              <a:t>Catherine Conway  |  Wild Botanica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A088"/>
                </a:solidFill>
                <a:latin typeface="Calibri"/>
              </a:rPr>
              <a:t>Represented by the Meridian Gallery Collective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 Botanica Exhibition Overview</dc:title>
  <dc:subject/>
  <dc:creator>Catherine Conway</dc:creator>
  <cp:keywords/>
  <dc:description/>
  <cp:lastModifiedBy>Catherine Conway</cp:lastModifiedBy>
  <cp:revision>1</cp:revision>
  <dcterms:created xsi:type="dcterms:W3CDTF">2026-02-10T10:00:00Z</dcterms:created>
  <dcterms:modified xsi:type="dcterms:W3CDTF">2026-02-10T10:00:00Z</dcterms:modified>
  <cp:category/>
</cp:coreProperties>
</file>