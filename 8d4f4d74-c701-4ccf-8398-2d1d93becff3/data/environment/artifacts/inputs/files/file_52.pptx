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7A242B"/>
                </a:solidFill>
              </a:rPr>
              <a:t>Each session, by emphasis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Each session, by emphasis</c:v>
                </c:pt>
              </c:strCache>
            </c:strRef>
          </c:tx>
          <c:dPt>
            <c:idx val="0"/>
            <c:spPr>
              <a:solidFill>
                <a:srgbClr val="7A242B"/>
              </a:solidFill>
            </c:spPr>
          </c:dPt>
          <c:dPt>
            <c:idx val="1"/>
            <c:spPr>
              <a:solidFill>
                <a:srgbClr val="6B6A2F"/>
              </a:solidFill>
            </c:spPr>
          </c:dPt>
          <c:dPt>
            <c:idx val="2"/>
            <c:spPr>
              <a:solidFill>
                <a:srgbClr val="B58A3C"/>
              </a:solidFill>
            </c:spPr>
          </c:dPt>
          <c:dPt>
            <c:idx val="3"/>
            <c:spPr>
              <a:solidFill>
                <a:srgbClr val="8C6B3C"/>
              </a:solidFill>
            </c:spPr>
          </c:dPt>
          <c:cat>
            <c:strRef>
              <c:f>Sheet1!$A$2:$A$5</c:f>
              <c:strCache>
                <c:ptCount val="4"/>
                <c:pt idx="0">
                  <c:v>Close reading</c:v>
                </c:pt>
                <c:pt idx="1">
                  <c:v>Theological reflection</c:v>
                </c:pt>
                <c:pt idx="2">
                  <c:v>Historical context</c:v>
                </c:pt>
                <c:pt idx="3">
                  <c:v>Practical application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7A242B"/>
                </a:solidFill>
              </a:rPr>
              <a:t>Registered participants by week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participants by week</c:v>
                </c:pt>
              </c:strCache>
            </c:strRef>
          </c:tx>
          <c:spPr>
            <a:solidFill>
              <a:srgbClr val="7A242B"/>
            </a:solidFill>
          </c:spPr>
          <c:cat>
            <c:strRef>
              <c:f>Sheet1!$A$2:$A$8</c:f>
              <c:strCache>
                <c:ptCount val="7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  <c:pt idx="6">
                  <c:v>Wk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</c:v>
                </c:pt>
                <c:pt idx="1">
                  <c:v>22</c:v>
                </c:pt>
                <c:pt idx="2">
                  <c:v>26</c:v>
                </c:pt>
                <c:pt idx="3">
                  <c:v>28</c:v>
                </c:pt>
                <c:pt idx="4">
                  <c:v>25</c:v>
                </c:pt>
                <c:pt idx="5">
                  <c:v>23</c:v>
                </c:pt>
                <c:pt idx="6">
                  <c:v>27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32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0332720" cy="146304"/>
          </a:xfrm>
          <a:prstGeom prst="rect">
            <a:avLst/>
          </a:prstGeom>
          <a:solidFill>
            <a:srgbClr val="B5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4800" b="1">
                <a:solidFill>
                  <a:srgbClr val="7A242B"/>
                </a:solidFill>
                <a:latin typeface="Calibri"/>
              </a:rPr>
              <a:t>Living with the Gospels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200" b="0">
                <a:solidFill>
                  <a:srgbClr val="6B6A2F"/>
                </a:solidFill>
                <a:latin typeface="Calibri"/>
              </a:rPr>
              <a:t>A Seven Week Adult Education Series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Tuesday Evenings, 7:30 to 9:00 PM   |   Parish Education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B58A3C"/>
                </a:solidFill>
                <a:latin typeface="Calibri"/>
              </a:rPr>
              <a:t>Facilitated by Rev. Colette Mullins   |   Fall 2026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56" dur="indefinite" restart="never" nodeType="tmRoot">
          <p:childTnLst>
            <p:seq concurrent="1" nextAc="seek">
              <p:cTn id="157" dur="indefinite" nodeType="mainSeq">
                <p:childTnLst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91440"/>
          </a:xfrm>
          <a:prstGeom prst="rect">
            <a:avLst/>
          </a:prstGeom>
          <a:solidFill>
            <a:srgbClr val="B5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About the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D6C0"/>
                </a:solidFill>
                <a:latin typeface="Calibri"/>
              </a:rPr>
              <a:t>Encountering the Gospels as living 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92824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F1E6D4"/>
                </a:solidFill>
                <a:latin typeface="Calibri"/>
              </a:rPr>
              <a:t>St. Genevieve Community Church   |   Adult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332A22"/>
                </a:solidFill>
                <a:latin typeface="Calibri"/>
              </a:rPr>
              <a:t>This course invites participants to encounter the Gospel texts not as relics of the past but as living documents that address our circumstances today.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7A242B"/>
                </a:solidFill>
                <a:latin typeface="Calibri"/>
              </a:rPr>
              <a:t>Each session weaves together four threads: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40480"/>
            <a:ext cx="201168" cy="201168"/>
          </a:xfrm>
          <a:prstGeom prst="ellipse">
            <a:avLst/>
          </a:prstGeom>
          <a:solidFill>
            <a:srgbClr val="6B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7647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Close reading of the text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07408"/>
            <a:ext cx="201168" cy="201168"/>
          </a:xfrm>
          <a:prstGeom prst="ellipse">
            <a:avLst/>
          </a:prstGeom>
          <a:solidFill>
            <a:srgbClr val="6B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Historical and cultural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74336"/>
            <a:ext cx="201168" cy="201168"/>
          </a:xfrm>
          <a:prstGeom prst="ellipse">
            <a:avLst/>
          </a:prstGeom>
          <a:solidFill>
            <a:srgbClr val="6B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1032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Theological reflection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541264"/>
            <a:ext cx="201168" cy="201168"/>
          </a:xfrm>
          <a:prstGeom prst="ellipse">
            <a:avLst/>
          </a:prstGeom>
          <a:solidFill>
            <a:srgbClr val="6B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477256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Practical application to parish life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828800"/>
            <a:ext cx="44805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828800"/>
            <a:ext cx="4480560" cy="594360"/>
          </a:xfrm>
          <a:prstGeom prst="rect">
            <a:avLst/>
          </a:prstGeom>
          <a:solidFill>
            <a:srgbClr val="6B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93852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Required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697480"/>
            <a:ext cx="4023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A study Bible with the New Revised Standard Version translation.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332A22"/>
                </a:solidFill>
                <a:latin typeface="Calibri"/>
              </a:rPr>
              <a:t>No purchase is required. Reading copies are available in the parish library.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B6A2F"/>
                </a:solidFill>
                <a:latin typeface="Calibri"/>
              </a:rPr>
              <a:t>Registration is not required. Childcare is available with 48 hours notice.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67" dur="indefinite" restart="never" nodeType="tmRoot">
          <p:childTnLst>
            <p:seq concurrent="1" nextAc="seek">
              <p:cTn id="168" dur="indefinite" nodeType="mainSeq">
                <p:childTnLst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91440"/>
          </a:xfrm>
          <a:prstGeom prst="rect">
            <a:avLst/>
          </a:prstGeom>
          <a:solidFill>
            <a:srgbClr val="B5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Weekly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D6C0"/>
                </a:solidFill>
                <a:latin typeface="Calibri"/>
              </a:rPr>
              <a:t>Seven weeks, October to November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92824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F1E6D4"/>
                </a:solidFill>
                <a:latin typeface="Calibri"/>
              </a:rPr>
              <a:t>St. Genevieve Community Church   |   Adult Formation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6675120"/>
              </a:tblGrid>
              <a:tr h="56007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anchor="ctr">
                    <a:solidFill>
                      <a:srgbClr val="7A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7A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anchor="ctr">
                    <a:solidFill>
                      <a:srgbClr val="7A24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October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Mark: Urgency and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October 13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Luke: Good News for the Poor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October 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The Parables: Difficult Stories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October 27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The Sermon on the Mount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November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Resurrection Narratives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November 10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Prayer Practices in the Gospels</a:t>
                      </a:r>
                    </a:p>
                  </a:txBody>
                  <a:tcPr anchor="ctr">
                    <a:solidFill>
                      <a:srgbClr val="E4D9B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November 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2A22"/>
                          </a:solidFill>
                          <a:latin typeface="Calibri"/>
                        </a:rPr>
                        <a:t>The Eucharist: Then and 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74" dur="indefinite" restart="never" nodeType="tmRoot">
          <p:childTnLst>
            <p:seq concurrent="1" nextAc="seek">
              <p:cTn id="175" dur="indefinite" nodeType="mainSeq">
                <p:childTnLst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91440"/>
          </a:xfrm>
          <a:prstGeom prst="rect">
            <a:avLst/>
          </a:prstGeom>
          <a:solidFill>
            <a:srgbClr val="B5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Closer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D6C0"/>
                </a:solidFill>
                <a:latin typeface="Calibri"/>
              </a:rPr>
              <a:t>Week 4: The Sermon on the Mount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92824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F1E6D4"/>
                </a:solidFill>
                <a:latin typeface="Calibri"/>
              </a:rPr>
              <a:t>St. Genevieve Community Church   |   Adult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789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>
                <a:solidFill>
                  <a:srgbClr val="7A242B"/>
                </a:solidFill>
                <a:latin typeface="Calibri"/>
              </a:rPr>
              <a:t>Reading: Matthew 5:1 to 7:29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32A22"/>
                </a:solidFill>
                <a:latin typeface="Calibri"/>
              </a:rPr>
              <a:t>A sustained engagement with the Beatitudes and the ethical demands of discipleship. We will ask what it means to read these words not as an impossible ideal but as a description of the life we are being formed into.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6B6A2F"/>
                </a:solidFill>
                <a:latin typeface="Calibri"/>
              </a:rPr>
              <a:t>Questions for the evening: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How do the Beatitudes reframe what it means to be blessed?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Where do the ethical demands of this text press on our own lives?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32A22"/>
                </a:solidFill>
                <a:latin typeface="Calibri"/>
              </a:rPr>
              <a:t>What would it look like for this parish to live as a community of the Sermon on the Mount?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85" dur="indefinite" restart="never" nodeType="tmRoot">
          <p:childTnLst>
            <p:seq concurrent="1" nextAc="seek">
              <p:cTn id="186" dur="indefinite" nodeType="mainSeq"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10332720" cy="246888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5603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A242B"/>
                </a:solidFill>
                <a:latin typeface="Calibri"/>
              </a:rPr>
              <a:t>Come and Study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332A22"/>
                </a:solidFill>
                <a:latin typeface="Calibri"/>
              </a:rPr>
              <a:t>All are welcome. Bring your questions, your doubts, and your curiosity.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6B6A2F"/>
                </a:solidFill>
                <a:latin typeface="Calibri"/>
              </a:rPr>
              <a:t>Contact Barbara Klein at bklein@stgenevievecle.org to learn more.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96" dur="indefinite" restart="never" nodeType="tmRoot">
          <p:childTnLst>
            <p:seq concurrent="1" nextAc="seek">
              <p:cTn id="197" dur="indefinite" nodeType="mainSeq">
                <p:childTnLst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B5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8A3C"/>
                </a:solidFill>
                <a:latin typeface="Calibri"/>
              </a:rP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Course in Numbers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783080"/>
          <a:ext cx="5577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7830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A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St. Genevieve Community Church   |   Adult Formation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511" dur="indefinite" restart="never" nodeType="tmRoot">
          <p:childTnLst>
            <p:seq concurrent="1" nextAc="seek">
              <p:cTn id="512" dur="indefinite" nodeType="mainSeq">
                <p:childTnLst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