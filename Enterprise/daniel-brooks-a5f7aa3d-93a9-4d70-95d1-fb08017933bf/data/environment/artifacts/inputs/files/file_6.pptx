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C05A76"/>
            </a:solidFill>
          </c:spPr>
          <c:dPt>
            <c:idx val="0"/>
            <c:spPr>
              <a:solidFill>
                <a:srgbClr val="C05A76"/>
              </a:solidFill>
            </c:spPr>
          </c:dPt>
          <c:dPt>
            <c:idx val="1"/>
            <c:spPr>
              <a:solidFill>
                <a:srgbClr val="2F9E95"/>
              </a:solidFill>
            </c:spPr>
          </c:dPt>
          <c:dPt>
            <c:idx val="2"/>
            <c:spPr>
              <a:solidFill>
                <a:srgbClr val="D0A35C"/>
              </a:solidFill>
            </c:spPr>
          </c:dPt>
          <c:cat>
            <c:strRef>
              <c:f>Sheet1!$A$2:$A$4</c:f>
              <c:strCache>
                <c:ptCount val="3"/>
                <c:pt idx="0">
                  <c:v>Principals and soloists</c:v>
                </c:pt>
                <c:pt idx="1">
                  <c:v>Corps de ballet</c:v>
                </c:pt>
                <c:pt idx="2">
                  <c:v>Apprentices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14</c:v>
                </c:pt>
                <c:pt idx="2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41A20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2F9E95"/>
            </a:solidFill>
          </c:spPr>
          <c:dPt>
            <c:idx val="0"/>
            <c:spPr>
              <a:solidFill>
                <a:srgbClr val="C05A76"/>
              </a:solidFill>
            </c:spPr>
          </c:dPt>
          <c:dPt>
            <c:idx val="1"/>
            <c:spPr>
              <a:solidFill>
                <a:srgbClr val="2F9E95"/>
              </a:solidFill>
            </c:spPr>
          </c:dPt>
          <c:dPt>
            <c:idx val="2"/>
            <c:spPr>
              <a:solidFill>
                <a:srgbClr val="D0A35C"/>
              </a:solidFill>
            </c:spPr>
          </c:dPt>
          <c:cat>
            <c:strRef>
              <c:f>Sheet1!$A$2:$A$4</c:f>
              <c:strCache>
                <c:ptCount val="3"/>
                <c:pt idx="0">
                  <c:v>Advanced</c:v>
                </c:pt>
                <c:pt idx="1">
                  <c:v>Intermediate</c:v>
                </c:pt>
                <c:pt idx="2">
                  <c:v>Beginner advanced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10</c:v>
                </c:pt>
                <c:pt idx="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41A20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2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071055" cy="6858000"/>
          </a:xfrm>
          <a:prstGeom prst="rect">
            <a:avLst/>
          </a:prstGeom>
          <a:solidFill>
            <a:srgbClr val="5E2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g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16191" y="0"/>
            <a:ext cx="54864" cy="6858000"/>
          </a:xfrm>
          <a:prstGeom prst="rect">
            <a:avLst/>
          </a:prstGeom>
          <a:solidFill>
            <a:srgbClr val="B0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6994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A52"/>
                </a:solidFill>
                <a:latin typeface="Segoe UI"/>
              </a:rPr>
              <a:t>GULF COAST BALLET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88233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0">
                <a:solidFill>
                  <a:srgbClr val="FFFFFF"/>
                </a:solidFill>
                <a:latin typeface="Georgia"/>
              </a:rPr>
              <a:t>2026 to 2027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0">
                <a:solidFill>
                  <a:srgbClr val="FFFFFF"/>
                </a:solidFill>
                <a:latin typeface="Georgia"/>
              </a:rPr>
              <a:t>Season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560801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7DCD2"/>
                </a:solidFill>
                <a:latin typeface="Segoe UI"/>
              </a:rPr>
              <a:t>Artistic vision and company plan. Daniel Brooks, Artistic Director.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27432"/>
          </a:xfrm>
          <a:prstGeom prst="rect">
            <a:avLst/>
          </a:prstGeom>
          <a:solidFill>
            <a:srgbClr val="E0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5E2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8A52"/>
                </a:solidFill>
                <a:latin typeface="Segoe UI"/>
              </a:rPr>
              <a:t>THE YEAR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41A20"/>
                </a:solidFill>
                <a:latin typeface="Georgia"/>
              </a:rPr>
              <a:t>Six Productions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47472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3474720" cy="109728"/>
          </a:xfrm>
          <a:prstGeom prst="rect">
            <a:avLst/>
          </a:prstGeom>
          <a:solidFill>
            <a:srgbClr val="B0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OCTOBER 14 TO 25,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41A20"/>
                </a:solidFill>
                <a:latin typeface="Georgia"/>
              </a:rPr>
              <a:t>Swan 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6A72"/>
                </a:solidFill>
                <a:latin typeface="Georgia"/>
              </a:rPr>
              <a:t>Tchaikovsky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783080"/>
            <a:ext cx="347472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783080"/>
            <a:ext cx="3474720" cy="109728"/>
          </a:xfrm>
          <a:prstGeom prst="rect">
            <a:avLst/>
          </a:prstGeom>
          <a:solidFill>
            <a:srgbClr val="B0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0574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DECEMBER 11 TO 23,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3774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41A20"/>
                </a:solidFill>
                <a:latin typeface="Georgia"/>
              </a:rPr>
              <a:t>The Nutcracker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6A72"/>
                </a:solidFill>
                <a:latin typeface="Georgia"/>
              </a:rPr>
              <a:t>Tchaikovsky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783080"/>
            <a:ext cx="347472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783080"/>
            <a:ext cx="3474720" cy="109728"/>
          </a:xfrm>
          <a:prstGeom prst="rect">
            <a:avLst/>
          </a:prstGeom>
          <a:solidFill>
            <a:srgbClr val="B0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0574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JANUARY 22 TO FEBRUARY 1,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774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41A20"/>
                </a:solidFill>
                <a:latin typeface="Georgia"/>
              </a:rPr>
              <a:t>Coppelia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6A72"/>
                </a:solidFill>
                <a:latin typeface="Georgia"/>
              </a:rPr>
              <a:t>Delibes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023360"/>
            <a:ext cx="347472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023360"/>
            <a:ext cx="3474720" cy="109728"/>
          </a:xfrm>
          <a:prstGeom prst="rect">
            <a:avLst/>
          </a:prstGeom>
          <a:solidFill>
            <a:srgbClr val="B0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976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FEBRUARY 19 TO 28,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41A20"/>
                </a:solidFill>
                <a:latin typeface="Georgia"/>
              </a:rPr>
              <a:t>Contemporary Triple Bill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492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6A72"/>
                </a:solidFill>
                <a:latin typeface="Georgia"/>
              </a:rPr>
              <a:t>Mixed program, new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4023360"/>
            <a:ext cx="347472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59" y="4023360"/>
            <a:ext cx="3474720" cy="109728"/>
          </a:xfrm>
          <a:prstGeom prst="rect">
            <a:avLst/>
          </a:prstGeom>
          <a:solidFill>
            <a:srgbClr val="B0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59" y="42976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APRIL 16 TO 25,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41A20"/>
                </a:solidFill>
                <a:latin typeface="Georgia"/>
              </a:rPr>
              <a:t>Don Quixote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53492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6A72"/>
                </a:solidFill>
                <a:latin typeface="Georgia"/>
              </a:rPr>
              <a:t>Minkus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4023360"/>
            <a:ext cx="347472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4023360"/>
            <a:ext cx="3474720" cy="109728"/>
          </a:xfrm>
          <a:prstGeom prst="rect">
            <a:avLst/>
          </a:prstGeom>
          <a:solidFill>
            <a:srgbClr val="B0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2976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MAY 14 TO 23,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6177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41A20"/>
                </a:solidFill>
                <a:latin typeface="Georgia"/>
              </a:rPr>
              <a:t>Spring Program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3492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6A72"/>
                </a:solidFill>
                <a:latin typeface="Georgia"/>
              </a:rPr>
              <a:t>Mixed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45936" y="0"/>
            <a:ext cx="54864" cy="6858000"/>
          </a:xfrm>
          <a:prstGeom prst="rect">
            <a:avLst/>
          </a:prstGeom>
          <a:solidFill>
            <a:srgbClr val="B0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8A52"/>
                </a:solidFill>
                <a:latin typeface="Segoe UI"/>
              </a:rPr>
              <a:t>SEASON OPENER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5E2336"/>
                </a:solidFill>
                <a:latin typeface="Georgia"/>
              </a:rPr>
              <a:t>Swan 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41A20"/>
                </a:solidFill>
                <a:latin typeface="Georgia"/>
              </a:rPr>
              <a:t>The company returns to the Gulf Coast Performing Arts Center for eight performances of Tchaikovsky's masterwork. Opening night is October 14,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169164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2452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PERFORMANCES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498848"/>
            <a:ext cx="14538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E2336"/>
                </a:solidFill>
                <a:latin typeface="Georgia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4114800"/>
            <a:ext cx="169164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422452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4498848"/>
            <a:ext cx="14538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E2336"/>
                </a:solidFill>
                <a:latin typeface="Georgia"/>
              </a:rPr>
              <a:t>140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114800"/>
            <a:ext cx="169164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22452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DANCERS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498848"/>
            <a:ext cx="14538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E2336"/>
                </a:solidFill>
                <a:latin typeface="Georgia"/>
              </a:rPr>
              <a:t>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27432"/>
          </a:xfrm>
          <a:prstGeom prst="rect">
            <a:avLst/>
          </a:prstGeom>
          <a:solidFill>
            <a:srgbClr val="E0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5E2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8A52"/>
                </a:solidFill>
                <a:latin typeface="Segoe UI"/>
              </a:rPr>
              <a:t>THE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41A20"/>
                </a:solidFill>
                <a:latin typeface="Georgia"/>
              </a:rPr>
              <a:t>Thirty Eight Dancers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78308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2194560"/>
            <a:ext cx="374903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E2336"/>
                </a:solidFill>
                <a:latin typeface="Segoe UI"/>
              </a:rPr>
              <a:t>A company built to grow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36A72"/>
                </a:solidFill>
                <a:latin typeface="Segoe UI"/>
              </a:rPr>
              <a:t>Twelve principals and soloists lead the repertoire, fourteen dancers fill the corps, and twelve apprentices train toward contracts. Three principal contracts renew for the new season.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27432"/>
          </a:xfrm>
          <a:prstGeom prst="rect">
            <a:avLst/>
          </a:prstGeom>
          <a:solidFill>
            <a:srgbClr val="E0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5E2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8A52"/>
                </a:solidFill>
                <a:latin typeface="Segoe UI"/>
              </a:rPr>
              <a:t>THE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41A20"/>
                </a:solidFill>
                <a:latin typeface="Georgia"/>
              </a:rPr>
              <a:t>Summer Intensive Enrollment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78308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1920240"/>
            <a:ext cx="37490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2996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PLACES FILLED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2" y="2304288"/>
            <a:ext cx="3511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E2336"/>
                </a:solidFill>
                <a:latin typeface="Georgia"/>
              </a:rPr>
              <a:t>26 of 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474720"/>
            <a:ext cx="37490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58444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8A52"/>
                </a:solidFill>
                <a:latin typeface="Segoe UI"/>
              </a:rPr>
              <a:t>TUITION PER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3858768"/>
            <a:ext cx="3511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E2336"/>
                </a:solidFill>
                <a:latin typeface="Georgia"/>
              </a:rPr>
              <a:t>2,800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029200"/>
            <a:ext cx="37490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6A72"/>
                </a:solidFill>
                <a:latin typeface="Segoe UI"/>
              </a:rPr>
              <a:t>Ages fourteen to eighteen, with a limited number of merit scholarships.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28816" y="0"/>
            <a:ext cx="54864" cy="6858000"/>
          </a:xfrm>
          <a:prstGeom prst="rect">
            <a:avLst/>
          </a:prstGeom>
          <a:solidFill>
            <a:srgbClr val="B0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8A52"/>
                </a:solidFill>
                <a:latin typeface="Segoe UI"/>
              </a:rPr>
              <a:t>NEW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5E2336"/>
                </a:solidFill>
                <a:latin typeface="Georgia"/>
              </a:rPr>
              <a:t>An Original Pas de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669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41A20"/>
                </a:solidFill>
                <a:latin typeface="Georgia"/>
              </a:rPr>
              <a:t>Set to a Ravel slow movement, roughly six minutes. It opens with the woman alone in stillness and ends on a held breath, the lights fading before the final note. Set first in company class with Tatiana Sokolov, then carried to the spring program and, in part, to the gala courtyard.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