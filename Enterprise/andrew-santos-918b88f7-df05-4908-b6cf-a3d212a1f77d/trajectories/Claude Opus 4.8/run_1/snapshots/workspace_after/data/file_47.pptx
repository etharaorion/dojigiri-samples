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USD per month</c:v>
                </c:pt>
              </c:strCache>
            </c:strRef>
          </c:tx>
          <c:spPr>
            <a:solidFill>
              <a:srgbClr val="1E8A5B"/>
            </a:solidFill>
          </c:spPr>
          <c:cat>
            <c:strRef>
              <c:f>Sheet1!$A$2:$A$8</c:f>
              <c:strCache>
                <c:ptCount val="7"/>
                <c:pt idx="0">
                  <c:v>Mortgage</c:v>
                </c:pt>
                <c:pt idx="1">
                  <c:v>Student loans</c:v>
                </c:pt>
                <c:pt idx="2">
                  <c:v>Groceries</c:v>
                </c:pt>
                <c:pt idx="3">
                  <c:v>Insurance</c:v>
                </c:pt>
                <c:pt idx="4">
                  <c:v>Activities</c:v>
                </c:pt>
                <c:pt idx="5">
                  <c:v>College savings</c:v>
                </c:pt>
                <c:pt idx="6">
                  <c:v>Other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1850</c:v>
                </c:pt>
                <c:pt idx="1">
                  <c:v>800</c:v>
                </c:pt>
                <c:pt idx="2">
                  <c:v>950</c:v>
                </c:pt>
                <c:pt idx="3">
                  <c:v>720</c:v>
                </c:pt>
                <c:pt idx="4">
                  <c:v>380</c:v>
                </c:pt>
                <c:pt idx="5">
                  <c:v>350</c:v>
                </c:pt>
                <c:pt idx="6">
                  <c:v>1490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>
                <a:solidFill>
                  <a:srgbClr val="15332A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100">
                <a:solidFill>
                  <a:srgbClr val="15332A"/>
                </a:solidFill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100">
              <a:solidFill>
                <a:srgbClr val="15332A"/>
              </a:solidFill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Current (USD)</c:v>
                </c:pt>
              </c:strCache>
            </c:strRef>
          </c:tx>
          <c:spPr>
            <a:solidFill>
              <a:srgbClr val="1E8A5B"/>
            </a:solidFill>
          </c:spPr>
          <c:cat>
            <c:strRef>
              <c:f>Sheet1!$A$2:$A$5</c:f>
              <c:strCache>
                <c:ptCount val="4"/>
                <c:pt idx="0">
                  <c:v>Emergency fund</c:v>
                </c:pt>
                <c:pt idx="1">
                  <c:v>529, older child</c:v>
                </c:pt>
                <c:pt idx="2">
                  <c:v>529, younger child</c:v>
                </c:pt>
                <c:pt idx="3">
                  <c:v>Visit fund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35000</c:v>
                </c:pt>
                <c:pt idx="1">
                  <c:v>28000</c:v>
                </c:pt>
                <c:pt idx="2">
                  <c:v>22000</c:v>
                </c:pt>
                <c:pt idx="3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Target (USD)</c:v>
                </c:pt>
              </c:strCache>
            </c:strRef>
          </c:tx>
          <c:spPr>
            <a:solidFill>
              <a:srgbClr val="E0A93A"/>
            </a:solidFill>
          </c:spPr>
          <c:cat>
            <c:strRef>
              <c:f>Sheet1!$A$2:$A$5</c:f>
              <c:strCache>
                <c:ptCount val="4"/>
                <c:pt idx="0">
                  <c:v>Emergency fund</c:v>
                </c:pt>
                <c:pt idx="1">
                  <c:v>529, older child</c:v>
                </c:pt>
                <c:pt idx="2">
                  <c:v>529, younger child</c:v>
                </c:pt>
                <c:pt idx="3">
                  <c:v>Visit fund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40000</c:v>
                </c:pt>
                <c:pt idx="1">
                  <c:v>40000</c:v>
                </c:pt>
                <c:pt idx="2">
                  <c:v>35000</c:v>
                </c:pt>
                <c:pt idx="3">
                  <c:v>6000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>
                <a:solidFill>
                  <a:srgbClr val="15332A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100">
                <a:solidFill>
                  <a:srgbClr val="15332A"/>
                </a:solidFill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100">
              <a:solidFill>
                <a:srgbClr val="15332A"/>
              </a:solidFill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Region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Region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Region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Region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Region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Region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Region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Region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Region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Region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Region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Region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Region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Region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Region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Region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Region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Region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Region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Region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Region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Region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Region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Region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Region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Region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Region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Region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Region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Region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Region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Region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Region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Region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Region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Region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Region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Region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Region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Region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Region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Region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Region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Region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Region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Region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Region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Region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Region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Region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Region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Region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-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-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8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572000"/>
            <a:ext cx="12191695" cy="2286000"/>
          </a:xfrm>
          <a:prstGeom prst="rect">
            <a:avLst/>
          </a:prstGeom>
          <a:solidFill>
            <a:srgbClr val="159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40080" y="640080"/>
            <a:ext cx="1280160" cy="1280160"/>
          </a:xfrm>
          <a:prstGeom prst="ellipse">
            <a:avLst/>
          </a:prstGeom>
          <a:solidFill>
            <a:srgbClr val="D2F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011680"/>
            <a:ext cx="100584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Household Finance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329184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DFF5EC"/>
                </a:solidFill>
                <a:latin typeface="Calibri"/>
              </a:rPr>
              <a:t>Santos Family  |  Palmer Woods, Detroit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48463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alibri"/>
              </a:rPr>
              <a:t>Prepared with Andrew  |  As of February 10,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8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Income and Spending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5303520" cy="2194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371600"/>
            <a:ext cx="5303520" cy="164592"/>
          </a:xfrm>
          <a:prstGeom prst="rect">
            <a:avLst/>
          </a:prstGeom>
          <a:solidFill>
            <a:srgbClr val="159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47548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59A8C"/>
                </a:solidFill>
                <a:latin typeface="Calibri"/>
              </a:rPr>
              <a:t>Annual income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286000"/>
            <a:ext cx="47548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E8A5B"/>
                </a:solidFill>
                <a:latin typeface="Calibri"/>
              </a:rPr>
              <a:t>197,000 USD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017520"/>
            <a:ext cx="4754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332A"/>
                </a:solidFill>
                <a:latin typeface="Calibri"/>
              </a:rPr>
              <a:t>Two salaries combined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371600"/>
            <a:ext cx="5303520" cy="2194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371600"/>
            <a:ext cx="5303520" cy="164592"/>
          </a:xfrm>
          <a:prstGeom prst="rect">
            <a:avLst/>
          </a:prstGeom>
          <a:solidFill>
            <a:srgbClr val="159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1645920"/>
            <a:ext cx="47548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59A8C"/>
                </a:solidFill>
                <a:latin typeface="Calibri"/>
              </a:rPr>
              <a:t>Monthly budget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286000"/>
            <a:ext cx="47548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E8A5B"/>
                </a:solidFill>
                <a:latin typeface="Calibri"/>
              </a:rPr>
              <a:t>6,540 USD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3017520"/>
            <a:ext cx="4754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332A"/>
                </a:solidFill>
                <a:latin typeface="Calibri"/>
              </a:rPr>
              <a:t>Across twelve categories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840480"/>
            <a:ext cx="5303520" cy="2194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3840480"/>
            <a:ext cx="5303520" cy="164592"/>
          </a:xfrm>
          <a:prstGeom prst="rect">
            <a:avLst/>
          </a:prstGeom>
          <a:solidFill>
            <a:srgbClr val="159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114800"/>
            <a:ext cx="47548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59A8C"/>
                </a:solidFill>
                <a:latin typeface="Calibri"/>
              </a:rPr>
              <a:t>Emergency fund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754880"/>
            <a:ext cx="47548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E8A5B"/>
                </a:solidFill>
                <a:latin typeface="Calibri"/>
              </a:rPr>
              <a:t>35,000 USD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486400"/>
            <a:ext cx="4754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332A"/>
                </a:solidFill>
                <a:latin typeface="Calibri"/>
              </a:rPr>
              <a:t>At 4.1 percent APY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0" y="3840480"/>
            <a:ext cx="5303520" cy="2194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0" y="3840480"/>
            <a:ext cx="5303520" cy="164592"/>
          </a:xfrm>
          <a:prstGeom prst="rect">
            <a:avLst/>
          </a:prstGeom>
          <a:solidFill>
            <a:srgbClr val="159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0" y="4114800"/>
            <a:ext cx="47548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59A8C"/>
                </a:solidFill>
                <a:latin typeface="Calibri"/>
              </a:rPr>
              <a:t>College savings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4754880"/>
            <a:ext cx="47548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E8A5B"/>
                </a:solidFill>
                <a:latin typeface="Calibri"/>
              </a:rPr>
              <a:t>50,000 USD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5486400"/>
            <a:ext cx="4754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332A"/>
                </a:solidFill>
                <a:latin typeface="Calibri"/>
              </a:rPr>
              <a:t>Across both children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E8A5B"/>
                </a:solidFill>
                <a:latin typeface="Calibri"/>
              </a:rPr>
              <a:t>Monthly Budget Breakdown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914400" y="1371600"/>
          <a:ext cx="10332720" cy="48463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E8A5B"/>
                </a:solidFill>
                <a:latin typeface="Calibri"/>
              </a:rPr>
              <a:t>Goals and Open Items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1463040"/>
          <a:ext cx="1033272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44240"/>
                <a:gridCol w="3444240"/>
                <a:gridCol w="3444240"/>
              </a:tblGrid>
              <a:tr h="731520"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Goal</a:t>
                      </a:r>
                    </a:p>
                  </a:txBody>
                  <a:tcPr>
                    <a:solidFill>
                      <a:srgbClr val="159A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Detail</a:t>
                      </a:r>
                    </a:p>
                  </a:txBody>
                  <a:tcPr>
                    <a:solidFill>
                      <a:srgbClr val="159A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Status</a:t>
                      </a:r>
                    </a:p>
                  </a:txBody>
                  <a:tcPr>
                    <a:solidFill>
                      <a:srgbClr val="159A8C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5332A"/>
                          </a:solidFill>
                        </a:rPr>
                        <a:t>College visit fund</a:t>
                      </a:r>
                    </a:p>
                  </a:txBody>
                  <a:tcPr>
                    <a:solidFill>
                      <a:srgbClr val="D2F0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5332A"/>
                          </a:solidFill>
                        </a:rPr>
                        <a:t>For Diego ahead of junior year</a:t>
                      </a:r>
                    </a:p>
                  </a:txBody>
                  <a:tcPr>
                    <a:solidFill>
                      <a:srgbClr val="D2F0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5332A"/>
                          </a:solidFill>
                        </a:rPr>
                        <a:t>To open</a:t>
                      </a:r>
                    </a:p>
                  </a:txBody>
                  <a:tcPr>
                    <a:solidFill>
                      <a:srgbClr val="D2F0E2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5332A"/>
                          </a:solidFill>
                        </a:rPr>
                        <a:t>Refinance MA loans</a:t>
                      </a:r>
                    </a:p>
                  </a:txBody>
                  <a:tcPr>
                    <a:solidFill>
                      <a:srgbClr val="D2F0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5332A"/>
                          </a:solidFill>
                        </a:rPr>
                        <a:t>32,000 USD at 4.5 percent</a:t>
                      </a:r>
                    </a:p>
                  </a:txBody>
                  <a:tcPr>
                    <a:solidFill>
                      <a:srgbClr val="D2F0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5332A"/>
                          </a:solidFill>
                        </a:rPr>
                        <a:t>Considering</a:t>
                      </a:r>
                    </a:p>
                  </a:txBody>
                  <a:tcPr>
                    <a:solidFill>
                      <a:srgbClr val="D2F0E2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5332A"/>
                          </a:solidFill>
                        </a:rPr>
                        <a:t>Kitchen renovation</a:t>
                      </a:r>
                    </a:p>
                  </a:txBody>
                  <a:tcPr>
                    <a:solidFill>
                      <a:srgbClr val="D2F0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5332A"/>
                          </a:solidFill>
                        </a:rPr>
                        <a:t>18,000 USD, three week job</a:t>
                      </a:r>
                    </a:p>
                  </a:txBody>
                  <a:tcPr>
                    <a:solidFill>
                      <a:srgbClr val="D2F0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5332A"/>
                          </a:solidFill>
                        </a:rPr>
                        <a:t>Scheduled</a:t>
                      </a:r>
                    </a:p>
                  </a:txBody>
                  <a:tcPr>
                    <a:solidFill>
                      <a:srgbClr val="D2F0E2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5332A"/>
                          </a:solidFill>
                        </a:rPr>
                        <a:t>Driveway sealing</a:t>
                      </a:r>
                    </a:p>
                  </a:txBody>
                  <a:tcPr>
                    <a:solidFill>
                      <a:srgbClr val="D2F0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5332A"/>
                          </a:solidFill>
                        </a:rPr>
                        <a:t>800 USD</a:t>
                      </a:r>
                    </a:p>
                  </a:txBody>
                  <a:tcPr>
                    <a:solidFill>
                      <a:srgbClr val="D2F0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5332A"/>
                          </a:solidFill>
                        </a:rPr>
                        <a:t>Planned</a:t>
                      </a:r>
                    </a:p>
                  </a:txBody>
                  <a:tcPr>
                    <a:solidFill>
                      <a:srgbClr val="D2F0E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8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Savings Goals Progress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731520" y="1371600"/>
          <a:ext cx="7498079" cy="48463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Rectangle 5"/>
          <p:cNvSpPr/>
          <p:nvPr/>
        </p:nvSpPr>
        <p:spPr>
          <a:xfrm>
            <a:off x="8503920" y="1463040"/>
            <a:ext cx="3108960" cy="4663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503920" y="1463040"/>
            <a:ext cx="3108960" cy="164592"/>
          </a:xfrm>
          <a:prstGeom prst="rect">
            <a:avLst/>
          </a:prstGeom>
          <a:solidFill>
            <a:srgbClr val="159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0" y="1737360"/>
            <a:ext cx="26517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59A8C"/>
                </a:solidFill>
                <a:latin typeface="Calibri"/>
              </a:rPr>
              <a:t>On Track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0" y="2377440"/>
            <a:ext cx="265176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5332A"/>
                </a:solidFill>
                <a:latin typeface="Calibri"/>
              </a:rPr>
              <a:t>Emergency fund near the six month target.</a:t>
            </a:r>
          </a:p>
          <a:p>
            <a:pPr algn="l"/>
            <a:r>
              <a:rPr sz="1400" b="0">
                <a:solidFill>
                  <a:srgbClr val="15332A"/>
                </a:solidFill>
                <a:latin typeface="Calibri"/>
              </a:rPr>
              <a:t>Both 529 plans growing at 350 USD per month combined.</a:t>
            </a:r>
          </a:p>
          <a:p>
            <a:pPr algn="l"/>
            <a:r>
              <a:rPr sz="1400" b="0">
                <a:solidFill>
                  <a:srgbClr val="15332A"/>
                </a:solidFill>
                <a:latin typeface="Calibri"/>
              </a:rPr>
              <a:t>College visit fund to open ahead of junior year, target 6,000 USD.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59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303520" y="1005840"/>
            <a:ext cx="1645920" cy="1645920"/>
          </a:xfrm>
          <a:prstGeom prst="ellipse">
            <a:avLst/>
          </a:prstGeom>
          <a:solidFill>
            <a:srgbClr val="D2F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017520"/>
            <a:ext cx="103327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Steady, impact over pay, and the kids' futures funded.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10332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>
                <a:solidFill>
                  <a:srgbClr val="DFF5EC"/>
                </a:solidFill>
                <a:latin typeface="Calibri"/>
              </a:rPr>
              <a:t>Next review with Maria Reyes, CPA, at tax time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/>
  <cp:revision>1</cp:revision>
  <dcterms:created xsi:type="dcterms:W3CDTF">2026-02-10T09:00:00Z</dcterms:created>
  <dcterms:modified xsi:type="dcterms:W3CDTF">2026-02-10T09:00:00Z</dcterms:modified>
  <cp:category/>
</cp:coreProperties>
</file>