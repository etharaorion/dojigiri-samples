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18888"/>
            <a:ext cx="12191695" cy="118872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188720"/>
            <a:ext cx="457200" cy="457200"/>
          </a:xfrm>
          <a:prstGeom prst="ellipse">
            <a:avLst/>
          </a:prstGeom>
          <a:solidFill>
            <a:srgbClr val="6F8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188720"/>
            <a:ext cx="457200" cy="457200"/>
          </a:xfrm>
          <a:prstGeom prst="ellipse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1188720"/>
            <a:ext cx="457200" cy="457200"/>
          </a:xfrm>
          <a:prstGeom prst="ellipse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4639" y="1188720"/>
            <a:ext cx="457200" cy="457200"/>
          </a:xfrm>
          <a:prstGeom prst="ellipse">
            <a:avLst/>
          </a:prstGeom>
          <a:solidFill>
            <a:srgbClr val="7A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188720"/>
            <a:ext cx="457200" cy="457200"/>
          </a:xfrm>
          <a:prstGeom prst="ellipse">
            <a:avLst/>
          </a:prstGeom>
          <a:solidFill>
            <a:srgbClr val="A8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8A4126"/>
                </a:solidFill>
                <a:latin typeface="Georgia"/>
              </a:rPr>
              <a:t>Botanical Watercolour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6F8466"/>
                </a:solidFill>
                <a:latin typeface="Georgia"/>
              </a:rPr>
              <a:t>Seeing and Painting Native Plants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7EFE3"/>
                </a:solidFill>
                <a:latin typeface="Calibri"/>
              </a:rPr>
              <a:t>A Saturday Workshop with Catherine Conway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3E2CF"/>
                </a:solidFill>
                <a:latin typeface="Calibri"/>
              </a:rPr>
              <a:t>St. Brendan's Fellowship Hall  |  October 17, 2026, 10:00 AM to 1:00 PM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8A4126"/>
                </a:solidFill>
                <a:latin typeface="Georgia"/>
              </a:rPr>
              <a:t>Our Morning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2743200" cy="73152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371600" cy="86868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7EFE3"/>
                </a:solidFill>
                <a:latin typeface="Georgia"/>
              </a:rPr>
              <a:t>10:00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011680"/>
            <a:ext cx="89611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30552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3A2C22"/>
                </a:solidFill>
                <a:latin typeface="Calibri"/>
              </a:rPr>
              <a:t>Observation and pencil study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F8466"/>
                </a:solidFill>
                <a:latin typeface="Calibri"/>
              </a:rPr>
              <a:t>See before you 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35808"/>
            <a:ext cx="1371600" cy="86868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36976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7EFE3"/>
                </a:solidFill>
                <a:latin typeface="Georgia"/>
              </a:rPr>
              <a:t>10:45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035808"/>
            <a:ext cx="89611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15468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3A2C22"/>
                </a:solidFill>
                <a:latin typeface="Calibri"/>
              </a:rPr>
              <a:t>Building luminous washes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F8466"/>
                </a:solidFill>
                <a:latin typeface="Calibri"/>
              </a:rPr>
              <a:t>Layer light to dark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59936"/>
            <a:ext cx="1371600" cy="86868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6110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7EFE3"/>
                </a:solidFill>
                <a:latin typeface="Georgia"/>
              </a:rPr>
              <a:t>11:45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4059936"/>
            <a:ext cx="89611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178808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3A2C22"/>
                </a:solidFill>
                <a:latin typeface="Calibri"/>
              </a:rPr>
              <a:t>Fine vein and detail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F8466"/>
                </a:solidFill>
                <a:latin typeface="Calibri"/>
              </a:rPr>
              <a:t>On fully dry 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84064"/>
            <a:ext cx="1371600" cy="86868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7EFE3"/>
                </a:solidFill>
                <a:latin typeface="Georgia"/>
              </a:rPr>
              <a:t>12:30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5084064"/>
            <a:ext cx="89611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5202936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3A2C22"/>
                </a:solidFill>
                <a:latin typeface="Calibri"/>
              </a:rPr>
              <a:t>Group review and tea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F8466"/>
                </a:solidFill>
                <a:latin typeface="Calibri"/>
              </a:rPr>
              <a:t>Pin up and look together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8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F7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What to Bring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377440" cy="73152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00" b="1">
                <a:solidFill>
                  <a:srgbClr val="C98A3A"/>
                </a:solidFill>
                <a:latin typeface="Calibri"/>
              </a:rPr>
              <a:t>-  </a:t>
            </a:r>
            <a:r>
              <a:rPr sz="1600">
                <a:solidFill>
                  <a:srgbClr val="EEF0E4"/>
                </a:solidFill>
                <a:latin typeface="Calibri"/>
              </a:rPr>
              <a:t>Cold press cotton paper, a quarter sheet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00" b="1">
                <a:solidFill>
                  <a:srgbClr val="C98A3A"/>
                </a:solidFill>
                <a:latin typeface="Calibri"/>
              </a:rPr>
              <a:t>-  </a:t>
            </a:r>
            <a:r>
              <a:rPr sz="1600">
                <a:solidFill>
                  <a:srgbClr val="EEF0E4"/>
                </a:solidFill>
                <a:latin typeface="Calibri"/>
              </a:rPr>
              <a:t>Round sable brushes, sizes 2, 6, and 8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00" b="1">
                <a:solidFill>
                  <a:srgbClr val="C98A3A"/>
                </a:solidFill>
                <a:latin typeface="Calibri"/>
              </a:rPr>
              <a:t>-  </a:t>
            </a:r>
            <a:r>
              <a:rPr sz="1600">
                <a:solidFill>
                  <a:srgbClr val="EEF0E4"/>
                </a:solidFill>
                <a:latin typeface="Calibri"/>
              </a:rPr>
              <a:t>A limited palette, six colours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00" b="1">
                <a:solidFill>
                  <a:srgbClr val="C98A3A"/>
                </a:solidFill>
                <a:latin typeface="Calibri"/>
              </a:rPr>
              <a:t>-  </a:t>
            </a:r>
            <a:r>
              <a:rPr sz="1600">
                <a:solidFill>
                  <a:srgbClr val="EEF0E4"/>
                </a:solidFill>
                <a:latin typeface="Calibri"/>
              </a:rPr>
              <a:t>Pencil, kneaded eraser, two water jars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600" b="1">
                <a:solidFill>
                  <a:srgbClr val="C98A3A"/>
                </a:solidFill>
                <a:latin typeface="Calibri"/>
              </a:rPr>
              <a:t>-  </a:t>
            </a:r>
            <a:r>
              <a:rPr sz="1600">
                <a:solidFill>
                  <a:srgbClr val="EEF0E4"/>
                </a:solidFill>
                <a:latin typeface="Calibri"/>
              </a:rPr>
              <a:t>A board and clips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280160"/>
            <a:ext cx="6035040" cy="4297680"/>
          </a:xfrm>
          <a:prstGeom prst="rect">
            <a:avLst/>
          </a:prstGeom>
          <a:solidFill>
            <a:srgbClr val="F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280160"/>
            <a:ext cx="6035040" cy="146304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8A4126"/>
                </a:solidFill>
                <a:latin typeface="Georgia"/>
              </a:rPr>
              <a:t>A Note on Materials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B5623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A2C22"/>
                </a:solidFill>
                <a:latin typeface="Calibri"/>
              </a:rPr>
              <a:t>Good paper does most of the work. Cotton rag holds a wash and lets the white of the sheet carry the light, which is the whole game in watercolour.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B5623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1">
                <a:solidFill>
                  <a:srgbClr val="6F8466"/>
                </a:solidFill>
                <a:latin typeface="Calibri"/>
              </a:rPr>
              <a:t>Materials are included for first time students, so come as you are.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8A4126"/>
                </a:solidFill>
                <a:latin typeface="Georgia"/>
              </a:rPr>
              <a:t>The Four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514600" cy="3840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514600" cy="82296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0116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A2C22"/>
                </a:solidFill>
                <a:latin typeface="Georgia"/>
              </a:rPr>
              <a:t>Observe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3A2C2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4A3C"/>
                </a:solidFill>
                <a:latin typeface="Calibri"/>
              </a:rPr>
              <a:t>Spend longer looking than you think you need. Find the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828800"/>
            <a:ext cx="2514600" cy="3840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514600" cy="822960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93392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880360"/>
            <a:ext cx="20116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A2C22"/>
                </a:solidFill>
                <a:latin typeface="Georgia"/>
              </a:rPr>
              <a:t>Draw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3A2C2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4A3C"/>
                </a:solidFill>
                <a:latin typeface="Calibri"/>
              </a:rPr>
              <a:t>A light, accurate pencil map. Get the proportion before the paint.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514600" cy="3840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514600" cy="822960"/>
          </a:xfrm>
          <a:prstGeom prst="rect">
            <a:avLst/>
          </a:prstGeom>
          <a:solidFill>
            <a:srgbClr val="6F8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20116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A2C22"/>
                </a:solidFill>
                <a:latin typeface="Georgia"/>
              </a:rPr>
              <a:t>Wash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3A2C2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4A3C"/>
                </a:solidFill>
                <a:latin typeface="Calibri"/>
              </a:rPr>
              <a:t>Lay graded washes wet, light first, and let each layer dry.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828800"/>
            <a:ext cx="2514600" cy="3840480"/>
          </a:xfrm>
          <a:prstGeom prst="rect">
            <a:avLst/>
          </a:prstGeom>
          <a:solidFill>
            <a:srgbClr val="FFFFFF"/>
          </a:solidFill>
          <a:ln w="1397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1828800"/>
            <a:ext cx="2514600" cy="822960"/>
          </a:xfrm>
          <a:prstGeom prst="rect">
            <a:avLst/>
          </a:prstGeom>
          <a:solidFill>
            <a:srgbClr val="A8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993392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880360"/>
            <a:ext cx="20116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A2C22"/>
                </a:solidFill>
                <a:latin typeface="Georgia"/>
              </a:rPr>
              <a:t>Vein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3A2C2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4A3C"/>
                </a:solidFill>
                <a:latin typeface="Calibri"/>
              </a:rPr>
              <a:t>Finest detail last, on dry paper, then leave it alone.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41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solidFill>
            <a:srgbClr val="B5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9966960" cy="128016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869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3E2CF"/>
                </a:solidFill>
                <a:latin typeface="Calibri"/>
              </a:rPr>
              <a:t>A Technique Tip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98A3A"/>
                </a:solidFill>
                <a:latin typeface="Calibri"/>
              </a:rPr>
              <a:t/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F7EFE3"/>
                </a:solidFill>
                <a:latin typeface="Georgia"/>
              </a:rPr>
              <a:t>Accuracy without air is just a diagram.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98A3A"/>
                </a:solidFill>
                <a:latin typeface="Calibri"/>
              </a:rPr>
              <a:t/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7E8D6"/>
                </a:solidFill>
                <a:latin typeface="Calibri"/>
              </a:rPr>
              <a:t>Lay your finest vein work last, on fully dry paper, and then leave it alone. Let the paper breathe.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F8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7EFE3"/>
                </a:solidFill>
                <a:latin typeface="Georgia"/>
              </a:rPr>
              <a:t>Keep Painting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C22"/>
                </a:solidFill>
                <a:latin typeface="Calibri"/>
              </a:rPr>
              <a:t>Quarterly workshops continue through the year in the fellowship hall, with proceeds supporting the hall fund.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A2C22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6F8466"/>
                </a:solidFill>
                <a:latin typeface="Georgia"/>
              </a:rPr>
              <a:t>Thank you for slowing down to look. Register for the next session through the parish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7560"/>
                </a:solidFill>
                <a:latin typeface="Calibri"/>
              </a:rPr>
              <a:t>Catherine Conway  |  Botanical Watercolour Workshop  |  St. Brendan's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Botanical Watercolour Workshop</dc:title>
  <dc:subject/>
  <dc:creator>Catherine Conway</dc:creator>
  <cp:keywords/>
  <dc:description/>
  <cp:lastModifiedBy>Catherine Conway</cp:lastModifiedBy>
  <cp:revision>1</cp:revision>
  <dcterms:created xsi:type="dcterms:W3CDTF">2026-10-05T10:00:00Z</dcterms:created>
  <dcterms:modified xsi:type="dcterms:W3CDTF">2026-10-05T10:00:00Z</dcterms:modified>
  <cp:category/>
</cp:coreProperties>
</file>