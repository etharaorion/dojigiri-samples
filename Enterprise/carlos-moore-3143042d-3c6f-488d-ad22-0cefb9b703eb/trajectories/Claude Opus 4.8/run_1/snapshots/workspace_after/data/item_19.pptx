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Income</c:v>
                </c:pt>
              </c:strCache>
            </c:strRef>
          </c:tx>
          <c:dPt>
            <c:idx val="0"/>
            <c:spPr>
              <a:solidFill>
                <a:srgbClr val="6E1F2E"/>
              </a:solidFill>
            </c:spPr>
          </c:dPt>
          <c:dPt>
            <c:idx val="1"/>
            <c:spPr>
              <a:solidFill>
                <a:srgbClr val="C79A3E"/>
              </a:solidFill>
            </c:spPr>
          </c:dPt>
          <c:dPt>
            <c:idx val="2"/>
            <c:spPr>
              <a:solidFill>
                <a:srgbClr val="3F6B4F"/>
              </a:solidFill>
            </c:spPr>
          </c:dPt>
          <c:dPt>
            <c:idx val="3"/>
            <c:spPr>
              <a:solidFill>
                <a:srgbClr val="A9572F"/>
              </a:solidFill>
            </c:spPr>
          </c:dPt>
          <c:dPt>
            <c:idx val="4"/>
            <c:spPr>
              <a:solidFill>
                <a:srgbClr val="7C6AA0"/>
              </a:solidFill>
            </c:spPr>
          </c:dPt>
          <c:dPt>
            <c:idx val="5"/>
            <c:spPr>
              <a:solidFill>
                <a:srgbClr val="D2A25A"/>
              </a:solidFill>
            </c:spPr>
          </c:dPt>
          <c:cat>
            <c:strRef>
              <c:f>Sheet1!$A$2:$A$7</c:f>
              <c:strCache>
                <c:ptCount val="6"/>
                <c:pt idx="0">
                  <c:v>Ticket sales</c:v>
                </c:pt>
                <c:pt idx="1">
                  <c:v>Silent auction</c:v>
                </c:pt>
                <c:pt idx="2">
                  <c:v>Raffle</c:v>
                </c:pt>
                <c:pt idx="3">
                  <c:v>Member donations</c:v>
                </c:pt>
                <c:pt idx="4">
                  <c:v>Corporate sponsor</c:v>
                </c:pt>
                <c:pt idx="5">
                  <c:v>Bake sale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8100</c:v>
                </c:pt>
                <c:pt idx="1">
                  <c:v>4500</c:v>
                </c:pt>
                <c:pt idx="2">
                  <c:v>3000</c:v>
                </c:pt>
                <c:pt idx="3">
                  <c:v>2200</c:v>
                </c:pt>
                <c:pt idx="4">
                  <c:v>1500</c:v>
                </c:pt>
                <c:pt idx="5">
                  <c:v>850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sz="900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000">
              <a:solidFill>
                <a:srgbClr val="333333"/>
              </a:solidFill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333333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 actual</c:v>
                </c:pt>
              </c:strCache>
            </c:strRef>
          </c:tx>
          <c:spPr>
            <a:solidFill>
              <a:srgbClr val="C9A98F"/>
            </a:solidFill>
          </c:spPr>
          <c:cat>
            <c:strRef>
              <c:f>Sheet1!$A$2:$A$4</c:f>
              <c:strCache>
                <c:ptCount val="3"/>
                <c:pt idx="0">
                  <c:v>Gross income</c:v>
                </c:pt>
                <c:pt idx="1">
                  <c:v>Expenses</c:v>
                </c:pt>
                <c:pt idx="2">
                  <c:v>Net to ministry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17900</c:v>
                </c:pt>
                <c:pt idx="1">
                  <c:v>6060</c:v>
                </c:pt>
                <c:pt idx="2">
                  <c:v>11840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2027 projected</c:v>
                </c:pt>
              </c:strCache>
            </c:strRef>
          </c:tx>
          <c:spPr>
            <a:solidFill>
              <a:srgbClr val="6E1F2E"/>
            </a:solidFill>
          </c:spPr>
          <c:cat>
            <c:strRef>
              <c:f>Sheet1!$A$2:$A$4</c:f>
              <c:strCache>
                <c:ptCount val="3"/>
                <c:pt idx="0">
                  <c:v>Gross income</c:v>
                </c:pt>
                <c:pt idx="1">
                  <c:v>Expenses</c:v>
                </c:pt>
                <c:pt idx="2">
                  <c:v>Net to ministry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20150</c:v>
                </c:pt>
                <c:pt idx="1">
                  <c:v>6955</c:v>
                </c:pt>
                <c:pt idx="2">
                  <c:v>13195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333333"/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nner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0"/>
            <a:ext cx="4383806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7223760" cy="6858000"/>
          </a:xfrm>
          <a:prstGeom prst="rect">
            <a:avLst/>
          </a:prstGeom>
          <a:solidFill>
            <a:srgbClr val="6E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3C878"/>
                </a:solidFill>
                <a:latin typeface="Calibri"/>
              </a:rPr>
              <a:t>CALVARY HILL CHURCH, NASHVILLE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62179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Georgia"/>
              </a:rPr>
              <a:t>Spring Fundraiser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E3C878"/>
                </a:solidFill>
                <a:latin typeface="Georgia"/>
              </a:rPr>
              <a:t>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6035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F3E6D4"/>
                </a:solidFill>
                <a:latin typeface="Calibri"/>
              </a:rPr>
              <a:t>Saturday, February 21, 2027  |  5:30 PM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F3E6D4"/>
                </a:solidFill>
                <a:latin typeface="Calibri"/>
              </a:rPr>
              <a:t>Calvary Hill Fellowship Hall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6217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3C878"/>
                </a:solidFill>
                <a:latin typeface="Georgia"/>
              </a:rPr>
              <a:t>An evening of dinner, music, and giving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64592" cy="822960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6E1F2E"/>
                </a:solidFill>
                <a:latin typeface="Georgia"/>
              </a:rPr>
              <a:t>The Evening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20700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7C6A5C"/>
                </a:solidFill>
                <a:latin typeface="Calibri"/>
              </a:rPr>
              <a:t>Fellowship, a Southern dinner, and support for ministry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" y="1664208"/>
            <a:ext cx="10607040" cy="18288"/>
          </a:xfrm>
          <a:prstGeom prst="rect">
            <a:avLst/>
          </a:prstGeom>
          <a:solidFill>
            <a:srgbClr val="E8D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3429000" cy="2743200"/>
          </a:xfrm>
          <a:prstGeom prst="rect">
            <a:avLst/>
          </a:prstGeom>
          <a:solidFill>
            <a:srgbClr val="FFFDF8"/>
          </a:solidFill>
          <a:ln w="12700">
            <a:solidFill>
              <a:srgbClr val="E8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429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0">
                <a:solidFill>
                  <a:srgbClr val="6E1F2E"/>
                </a:solidFill>
                <a:latin typeface="Segoe UI Emoji"/>
              </a:rPr>
              <a:t>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3429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6E1F2E"/>
                </a:solidFill>
                <a:latin typeface="Georgia"/>
              </a:rPr>
              <a:t>Southern Buffet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7C6A5C"/>
                </a:solidFill>
                <a:latin typeface="Calibri"/>
              </a:rPr>
              <a:t>A full home style dinner for 200 guests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920240"/>
            <a:ext cx="3429000" cy="2743200"/>
          </a:xfrm>
          <a:prstGeom prst="rect">
            <a:avLst/>
          </a:prstGeom>
          <a:solidFill>
            <a:srgbClr val="FFFDF8"/>
          </a:solidFill>
          <a:ln w="12700">
            <a:solidFill>
              <a:srgbClr val="E8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194560"/>
            <a:ext cx="3429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0">
                <a:solidFill>
                  <a:srgbClr val="6E1F2E"/>
                </a:solidFill>
                <a:latin typeface="Segoe UI Emoji"/>
              </a:rPr>
              <a:t>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063240"/>
            <a:ext cx="3429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6E1F2E"/>
                </a:solidFill>
                <a:latin typeface="Georgia"/>
              </a:rPr>
              <a:t>Choir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611880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7C6A5C"/>
                </a:solidFill>
                <a:latin typeface="Calibri"/>
              </a:rPr>
              <a:t>A featured set led by the baritone section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19" y="1920240"/>
            <a:ext cx="3429000" cy="2743200"/>
          </a:xfrm>
          <a:prstGeom prst="rect">
            <a:avLst/>
          </a:prstGeom>
          <a:solidFill>
            <a:srgbClr val="FFFDF8"/>
          </a:solidFill>
          <a:ln w="12700">
            <a:solidFill>
              <a:srgbClr val="E8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9" y="2194560"/>
            <a:ext cx="3429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0">
                <a:solidFill>
                  <a:srgbClr val="6E1F2E"/>
                </a:solidFill>
                <a:latin typeface="Segoe UI Emoji"/>
              </a:rPr>
              <a:t>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3063240"/>
            <a:ext cx="3429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6E1F2E"/>
                </a:solidFill>
                <a:latin typeface="Georgia"/>
              </a:rPr>
              <a:t>Auction and Raffle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611880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7C6A5C"/>
                </a:solidFill>
                <a:latin typeface="Calibri"/>
              </a:rPr>
              <a:t>20 donated items and a 300 ticket raffle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2920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A2A20"/>
                </a:solidFill>
                <a:latin typeface="Calibri"/>
              </a:rPr>
              <a:t>Last year our spring dinner raised $11,840 net for the ministry. This year, with higher ticket capacity and a confirmed corporate sponsor, we are projecting $13,195, an eleven percent increase.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64592" cy="822960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6E1F2E"/>
                </a:solidFill>
                <a:latin typeface="Georgia"/>
              </a:rPr>
              <a:t>Projected Income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20700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7C6A5C"/>
                </a:solidFill>
                <a:latin typeface="Calibri"/>
              </a:rPr>
              <a:t>Six sources totaling $20,150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" y="1664208"/>
            <a:ext cx="10607040" cy="18288"/>
          </a:xfrm>
          <a:prstGeom prst="rect">
            <a:avLst/>
          </a:prstGeom>
          <a:solidFill>
            <a:srgbClr val="E8D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828800"/>
          <a:ext cx="54864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828800"/>
          <a:ext cx="5120639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4796"/>
                <a:gridCol w="1945843"/>
              </a:tblGrid>
              <a:tr h="53721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91440" anchor="ctr">
                    <a:solidFill>
                      <a:srgbClr val="6E1F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marL="91440" anchor="ctr">
                    <a:solidFill>
                      <a:srgbClr val="6E1F2E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2A20"/>
                          </a:solidFill>
                          <a:latin typeface="Calibri"/>
                        </a:rPr>
                        <a:t>Ticket sales, 180 plates</a:t>
                      </a:r>
                    </a:p>
                  </a:txBody>
                  <a:tcPr marL="91440" anchor="ctr"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2A20"/>
                          </a:solidFill>
                          <a:latin typeface="Calibri"/>
                        </a:rPr>
                        <a:t>$8,100</a:t>
                      </a:r>
                    </a:p>
                  </a:txBody>
                  <a:tcPr marL="91440" anchor="ctr">
                    <a:solidFill>
                      <a:srgbClr val="FBF3E3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2A20"/>
                          </a:solidFill>
                          <a:latin typeface="Calibri"/>
                        </a:rPr>
                        <a:t>Silent auction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2A20"/>
                          </a:solidFill>
                          <a:latin typeface="Calibri"/>
                        </a:rPr>
                        <a:t>$4,500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2A20"/>
                          </a:solidFill>
                          <a:latin typeface="Calibri"/>
                        </a:rPr>
                        <a:t>Raffle</a:t>
                      </a:r>
                    </a:p>
                  </a:txBody>
                  <a:tcPr marL="91440" anchor="ctr"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2A20"/>
                          </a:solidFill>
                          <a:latin typeface="Calibri"/>
                        </a:rPr>
                        <a:t>$3,000</a:t>
                      </a:r>
                    </a:p>
                  </a:txBody>
                  <a:tcPr marL="91440" anchor="ctr">
                    <a:solidFill>
                      <a:srgbClr val="FBF3E3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2A20"/>
                          </a:solidFill>
                          <a:latin typeface="Calibri"/>
                        </a:rPr>
                        <a:t>Member donations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2A20"/>
                          </a:solidFill>
                          <a:latin typeface="Calibri"/>
                        </a:rPr>
                        <a:t>$2,200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2A20"/>
                          </a:solidFill>
                          <a:latin typeface="Calibri"/>
                        </a:rPr>
                        <a:t>Corporate sponsor</a:t>
                      </a:r>
                    </a:p>
                  </a:txBody>
                  <a:tcPr marL="91440" anchor="ctr"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2A20"/>
                          </a:solidFill>
                          <a:latin typeface="Calibri"/>
                        </a:rPr>
                        <a:t>$1,500</a:t>
                      </a:r>
                    </a:p>
                  </a:txBody>
                  <a:tcPr marL="91440" anchor="ctr">
                    <a:solidFill>
                      <a:srgbClr val="FBF3E3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2A20"/>
                          </a:solidFill>
                          <a:latin typeface="Calibri"/>
                        </a:rPr>
                        <a:t>Bake sale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2A20"/>
                          </a:solidFill>
                          <a:latin typeface="Calibri"/>
                        </a:rPr>
                        <a:t>$850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D1420"/>
                          </a:solidFill>
                          <a:latin typeface="Calibri"/>
                        </a:rPr>
                        <a:t>Total income</a:t>
                      </a:r>
                    </a:p>
                  </a:txBody>
                  <a:tcPr marL="91440" anchor="ctr">
                    <a:solidFill>
                      <a:srgbClr val="EFD9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D1420"/>
                          </a:solidFill>
                          <a:latin typeface="Calibri"/>
                        </a:rPr>
                        <a:t>$20,150</a:t>
                      </a:r>
                    </a:p>
                  </a:txBody>
                  <a:tcPr marL="91440" anchor="ctr">
                    <a:solidFill>
                      <a:srgbClr val="EFD9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64592" cy="822960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6E1F2E"/>
                </a:solidFill>
                <a:latin typeface="Georgia"/>
              </a:rPr>
              <a:t>Year Over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20700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7C6A5C"/>
                </a:solidFill>
                <a:latin typeface="Calibri"/>
              </a:rPr>
              <a:t>2025 result versus the 2027 projection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" y="1664208"/>
            <a:ext cx="10607040" cy="18288"/>
          </a:xfrm>
          <a:prstGeom prst="rect">
            <a:avLst/>
          </a:prstGeom>
          <a:solidFill>
            <a:srgbClr val="E8D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828800"/>
          <a:ext cx="73152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0" y="201168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C79A3E"/>
                </a:solidFill>
                <a:latin typeface="Calibri"/>
              </a:rPr>
              <a:t>•  </a:t>
            </a:r>
            <a:r>
              <a:rPr sz="1400" b="1">
                <a:solidFill>
                  <a:srgbClr val="3A2A20"/>
                </a:solidFill>
                <a:latin typeface="Calibri"/>
              </a:rPr>
              <a:t>More plates.</a:t>
            </a:r>
            <a:r>
              <a:rPr sz="1400">
                <a:solidFill>
                  <a:srgbClr val="3A2A20"/>
                </a:solidFill>
                <a:latin typeface="Calibri"/>
              </a:rPr>
              <a:t>  Ticket capacity up to 180 guests.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C79A3E"/>
                </a:solidFill>
                <a:latin typeface="Calibri"/>
              </a:rPr>
              <a:t>•  </a:t>
            </a:r>
            <a:r>
              <a:rPr sz="1400" b="1">
                <a:solidFill>
                  <a:srgbClr val="3A2A20"/>
                </a:solidFill>
                <a:latin typeface="Calibri"/>
              </a:rPr>
              <a:t>New sponsor.</a:t>
            </a:r>
            <a:r>
              <a:rPr sz="1400">
                <a:solidFill>
                  <a:srgbClr val="3A2A20"/>
                </a:solidFill>
                <a:latin typeface="Calibri"/>
              </a:rPr>
              <a:t>  A confirmed corporate sponsor at $1,500.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C79A3E"/>
                </a:solidFill>
                <a:latin typeface="Calibri"/>
              </a:rPr>
              <a:t>•  </a:t>
            </a:r>
            <a:r>
              <a:rPr sz="1400" b="1">
                <a:solidFill>
                  <a:srgbClr val="3A2A20"/>
                </a:solidFill>
                <a:latin typeface="Calibri"/>
              </a:rPr>
              <a:t>Lean costs.</a:t>
            </a:r>
            <a:r>
              <a:rPr sz="1400">
                <a:solidFill>
                  <a:srgbClr val="3A2A20"/>
                </a:solidFill>
                <a:latin typeface="Calibri"/>
              </a:rPr>
              <a:t>  Expenses held near 35 percent of income.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C79A3E"/>
                </a:solidFill>
                <a:latin typeface="Calibri"/>
              </a:rPr>
              <a:t>•  </a:t>
            </a:r>
            <a:r>
              <a:rPr sz="1400" b="1">
                <a:solidFill>
                  <a:srgbClr val="3A2A20"/>
                </a:solidFill>
                <a:latin typeface="Calibri"/>
              </a:rPr>
              <a:t>Bigger impact.</a:t>
            </a:r>
            <a:r>
              <a:rPr sz="1400">
                <a:solidFill>
                  <a:srgbClr val="3A2A20"/>
                </a:solidFill>
                <a:latin typeface="Calibri"/>
              </a:rPr>
              <a:t>  $1,355 more for ministry than last year.</a:t>
            </a:r>
          </a:p>
        </p:txBody>
      </p: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64592" cy="822960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6E1F2E"/>
                </a:solidFill>
                <a:latin typeface="Georgia"/>
              </a:rPr>
              <a:t>The Committee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20700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7C6A5C"/>
                </a:solidFill>
                <a:latin typeface="Calibri"/>
              </a:rPr>
              <a:t>Volunteers who make the night happen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" y="1664208"/>
            <a:ext cx="10607040" cy="18288"/>
          </a:xfrm>
          <a:prstGeom prst="rect">
            <a:avLst/>
          </a:prstGeom>
          <a:solidFill>
            <a:srgbClr val="E8D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931920"/>
                <a:gridCol w="3108960"/>
              </a:tblGrid>
              <a:tr h="5257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marL="91440" anchor="ctr">
                    <a:solidFill>
                      <a:srgbClr val="6E1F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91440" anchor="ctr">
                    <a:solidFill>
                      <a:srgbClr val="6E1F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Availability</a:t>
                      </a:r>
                    </a:p>
                  </a:txBody>
                  <a:tcPr marL="91440" anchor="ctr">
                    <a:solidFill>
                      <a:srgbClr val="6E1F2E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2A20"/>
                          </a:solidFill>
                          <a:latin typeface="Calibri"/>
                        </a:rPr>
                        <a:t>Carlos Moore</a:t>
                      </a:r>
                    </a:p>
                  </a:txBody>
                  <a:tcPr marL="91440" anchor="ctr"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2A20"/>
                          </a:solidFill>
                          <a:latin typeface="Calibri"/>
                        </a:rPr>
                        <a:t>Committee Chair</a:t>
                      </a:r>
                    </a:p>
                  </a:txBody>
                  <a:tcPr marL="91440" anchor="ctr"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2A20"/>
                          </a:solidFill>
                          <a:latin typeface="Calibri"/>
                        </a:rPr>
                        <a:t>All day</a:t>
                      </a:r>
                    </a:p>
                  </a:txBody>
                  <a:tcPr marL="91440" anchor="ctr">
                    <a:solidFill>
                      <a:srgbClr val="FBF3E3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2A20"/>
                          </a:solidFill>
                          <a:latin typeface="Calibri"/>
                        </a:rPr>
                        <a:t>Pastor James Whitfield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2A20"/>
                          </a:solidFill>
                          <a:latin typeface="Calibri"/>
                        </a:rPr>
                        <a:t>Spiritual Lead and Emcee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2A20"/>
                          </a:solidFill>
                          <a:latin typeface="Calibri"/>
                        </a:rPr>
                        <a:t>Afternoon and evening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2A20"/>
                          </a:solidFill>
                          <a:latin typeface="Calibri"/>
                        </a:rPr>
                        <a:t>Maria Moore</a:t>
                      </a:r>
                    </a:p>
                  </a:txBody>
                  <a:tcPr marL="91440" anchor="ctr"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2A20"/>
                          </a:solidFill>
                          <a:latin typeface="Calibri"/>
                        </a:rPr>
                        <a:t>Food Committee Co-Lead</a:t>
                      </a:r>
                    </a:p>
                  </a:txBody>
                  <a:tcPr marL="91440" anchor="ctr"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2A20"/>
                          </a:solidFill>
                          <a:latin typeface="Calibri"/>
                        </a:rPr>
                        <a:t>Morning and evening</a:t>
                      </a:r>
                    </a:p>
                  </a:txBody>
                  <a:tcPr marL="91440" anchor="ctr">
                    <a:solidFill>
                      <a:srgbClr val="FBF3E3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2A20"/>
                          </a:solidFill>
                          <a:latin typeface="Calibri"/>
                        </a:rPr>
                        <a:t>Marcus Webb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2A20"/>
                          </a:solidFill>
                          <a:latin typeface="Calibri"/>
                        </a:rPr>
                        <a:t>Silent Auction Manager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2A20"/>
                          </a:solidFill>
                          <a:latin typeface="Calibri"/>
                        </a:rPr>
                        <a:t>Afternoon and evening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2A20"/>
                          </a:solidFill>
                          <a:latin typeface="Calibri"/>
                        </a:rPr>
                        <a:t>Sister Gloria Watkins</a:t>
                      </a:r>
                    </a:p>
                  </a:txBody>
                  <a:tcPr marL="91440" anchor="ctr"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2A20"/>
                          </a:solidFill>
                          <a:latin typeface="Calibri"/>
                        </a:rPr>
                        <a:t>Bake Sale Coordinator</a:t>
                      </a:r>
                    </a:p>
                  </a:txBody>
                  <a:tcPr marL="91440" anchor="ctr"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2A20"/>
                          </a:solidFill>
                          <a:latin typeface="Calibri"/>
                        </a:rPr>
                        <a:t>All day</a:t>
                      </a:r>
                    </a:p>
                  </a:txBody>
                  <a:tcPr marL="91440" anchor="ctr">
                    <a:solidFill>
                      <a:srgbClr val="FBF3E3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2A20"/>
                          </a:solidFill>
                          <a:latin typeface="Calibri"/>
                        </a:rPr>
                        <a:t>Tamara Collins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2A20"/>
                          </a:solidFill>
                          <a:latin typeface="Calibri"/>
                        </a:rPr>
                        <a:t>Choir and Entertainment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2A20"/>
                          </a:solidFill>
                          <a:latin typeface="Calibri"/>
                        </a:rPr>
                        <a:t>Afternoon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2A20"/>
                          </a:solidFill>
                          <a:latin typeface="Calibri"/>
                        </a:rPr>
                        <a:t>Brenda Coles</a:t>
                      </a:r>
                    </a:p>
                  </a:txBody>
                  <a:tcPr marL="91440" anchor="ctr"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2A20"/>
                          </a:solidFill>
                          <a:latin typeface="Calibri"/>
                        </a:rPr>
                        <a:t>Cash Box and Finance</a:t>
                      </a:r>
                    </a:p>
                  </a:txBody>
                  <a:tcPr marL="91440" anchor="ctr"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2A20"/>
                          </a:solidFill>
                          <a:latin typeface="Calibri"/>
                        </a:rPr>
                        <a:t>All day</a:t>
                      </a:r>
                    </a:p>
                  </a:txBody>
                  <a:tcPr marL="91440" anchor="ctr">
                    <a:solidFill>
                      <a:srgbClr val="FBF3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vert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Be part of the night.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F3E6D4"/>
                </a:solidFill>
                <a:latin typeface="Calibri"/>
              </a:rPr>
              <a:t>Reserve a plate, sponsor a table, or donate to the ministry fund.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F3E6D4"/>
                </a:solidFill>
                <a:latin typeface="Calibri"/>
              </a:rPr>
              <a:t>Every dollar stays in Nashville and serves our community.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3C878"/>
                </a:solidFill>
                <a:latin typeface="Calibri"/>
              </a:rPr>
              <a:t>Carlos Moore, Committee Chair  |  Calvary Hill Church</a:t>
            </a: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