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Weighted score</c:v>
                </c:pt>
              </c:strCache>
            </c:strRef>
          </c:tx>
          <c:dPt>
            <c:idx val="0"/>
            <c:spPr>
              <a:solidFill>
                <a:srgbClr val="14746F"/>
              </a:solidFill>
            </c:spPr>
          </c:dPt>
          <c:dPt>
            <c:idx val="1"/>
            <c:spPr>
              <a:solidFill>
                <a:srgbClr val="8FB3AD"/>
              </a:solidFill>
            </c:spPr>
          </c:dPt>
          <c:dPt>
            <c:idx val="2"/>
            <c:spPr>
              <a:solidFill>
                <a:srgbClr val="C2CFCC"/>
              </a:solidFill>
            </c:spPr>
          </c:dPt>
          <c:cat>
            <c:strRef>
              <c:f>Sheet1!$A$2:$A$4</c:f>
              <c:strCache>
                <c:ptCount val="3"/>
                <c:pt idx="0">
                  <c:v>HealthPath Solutions</c:v>
                </c:pt>
                <c:pt idx="1">
                  <c:v>WellTrack Inc.</c:v>
                </c:pt>
                <c:pt idx="2">
                  <c:v>VitalMax Health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</c:v>
                </c:pt>
                <c:pt idx="1">
                  <c:v>78</c:v>
                </c:pt>
                <c:pt idx="2">
                  <c:v>68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 b="1">
                  <a:solidFill>
                    <a:srgbClr val="0F3D3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333333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Satisfaction</c:v>
                </c:pt>
              </c:strCache>
            </c:strRef>
          </c:tx>
          <c:dPt>
            <c:idx val="0"/>
            <c:spPr>
              <a:solidFill>
                <a:srgbClr val="14746F"/>
              </a:solidFill>
            </c:spPr>
          </c:dPt>
          <c:dPt>
            <c:idx val="1"/>
            <c:spPr>
              <a:solidFill>
                <a:srgbClr val="CAA24A"/>
              </a:solidFill>
            </c:spPr>
          </c:dPt>
          <c:dPt>
            <c:idx val="2"/>
            <c:spPr>
              <a:solidFill>
                <a:srgbClr val="0F3D3A"/>
              </a:solidFill>
            </c:spPr>
          </c:dPt>
          <c:dPt>
            <c:idx val="3"/>
            <c:spPr>
              <a:solidFill>
                <a:srgbClr val="8FB3AD"/>
              </a:solidFill>
            </c:spPr>
          </c:dPt>
          <c:cat>
            <c:strRef>
              <c:f>Sheet1!$A$2:$A$5</c:f>
              <c:strCache>
                <c:ptCount val="4"/>
                <c:pt idx="0">
                  <c:v>Mental health</c:v>
                </c:pt>
                <c:pt idx="1">
                  <c:v>Fitness tracking</c:v>
                </c:pt>
                <c:pt idx="2">
                  <c:v>Nutrition</c:v>
                </c:pt>
                <c:pt idx="3">
                  <c:v>Admin reporting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</c:v>
                </c:pt>
                <c:pt idx="1">
                  <c:v>88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000">
              <a:solidFill>
                <a:srgbClr val="333333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333333"/>
          </a:solidFill>
        </a:defRPr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40280"/>
          </a:xfrm>
          <a:prstGeom prst="rect">
            <a:avLst/>
          </a:prstGeom>
          <a:solidFill>
            <a:srgbClr val="0F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40280"/>
            <a:ext cx="12191695" cy="73152"/>
          </a:xfrm>
          <a:prstGeom prst="rect">
            <a:avLst/>
          </a:prstGeom>
          <a:solidFill>
            <a:srgbClr val="CA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206240" cy="2240280"/>
          </a:xfrm>
          <a:prstGeom prst="rect">
            <a:avLst/>
          </a:prstGeom>
          <a:solidFill>
            <a:srgbClr val="147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8229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Employee Wellness Program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CFE6E2"/>
                </a:solidFill>
                <a:latin typeface="Calibri"/>
              </a:rPr>
              <a:t>Bellmark Industries  |  Full Rollout, January 2027</a:t>
            </a:r>
          </a:p>
        </p:txBody>
      </p:sp>
      <p:pic>
        <p:nvPicPr>
          <p:cNvPr id="8" name="Picture 7" descr="img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743200"/>
            <a:ext cx="2377440" cy="3566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2926080"/>
            <a:ext cx="65836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1">
                <a:solidFill>
                  <a:srgbClr val="0F3D3A"/>
                </a:solidFill>
                <a:latin typeface="Calibri"/>
              </a:rPr>
              <a:t>A healthier, more supported workforce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5B6B68"/>
                </a:solidFill>
                <a:latin typeface="Calibri"/>
              </a:rPr>
              <a:t>Voluntary platform for all 400 employees across three offices,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5B6B68"/>
                </a:solidFill>
                <a:latin typeface="Calibri"/>
              </a:rPr>
              <a:t>with mental health, fitness, and nutrition support built 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4360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B68"/>
                </a:solidFill>
                <a:latin typeface="Calibri"/>
              </a:rPr>
              <a:t>Prepared by Carlos Moore, HR Director  |  Employee ID CM-2018-047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64592" cy="822960"/>
          </a:xfrm>
          <a:prstGeom prst="rect">
            <a:avLst/>
          </a:prstGeom>
          <a:solidFill>
            <a:srgbClr val="147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3D3A"/>
                </a:solidFill>
                <a:latin typeface="Calibri"/>
              </a:rPr>
              <a:t>Program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70432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7B78"/>
                </a:solidFill>
                <a:latin typeface="Calibri"/>
              </a:rPr>
              <a:t>What every employee gets, at no cost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27632"/>
            <a:ext cx="10607040" cy="18288"/>
          </a:xfrm>
          <a:prstGeom prst="rect">
            <a:avLst/>
          </a:prstGeom>
          <a:solidFill>
            <a:srgbClr val="DF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2560320" cy="1737360"/>
          </a:xfrm>
          <a:prstGeom prst="rect">
            <a:avLst/>
          </a:prstGeom>
          <a:solidFill>
            <a:srgbClr val="E8F3F1"/>
          </a:solidFill>
          <a:ln w="12700">
            <a:solidFill>
              <a:srgbClr val="D6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2560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4746F"/>
                </a:solidFill>
                <a:latin typeface="Calibri"/>
              </a:rPr>
              <a:t>400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B68"/>
                </a:solidFill>
                <a:latin typeface="Calibri"/>
              </a:rPr>
              <a:t>Employees eligible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737360"/>
            <a:ext cx="2560320" cy="1737360"/>
          </a:xfrm>
          <a:prstGeom prst="rect">
            <a:avLst/>
          </a:prstGeom>
          <a:solidFill>
            <a:srgbClr val="E8F3F1"/>
          </a:solidFill>
          <a:ln w="12700">
            <a:solidFill>
              <a:srgbClr val="D6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874519"/>
            <a:ext cx="2560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CAA24A"/>
                </a:solidFill>
                <a:latin typeface="Calibri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78892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B68"/>
                </a:solidFill>
                <a:latin typeface="Calibri"/>
              </a:rPr>
              <a:t>Free counseling sessions / yr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2560320" cy="1737360"/>
          </a:xfrm>
          <a:prstGeom prst="rect">
            <a:avLst/>
          </a:prstGeom>
          <a:solidFill>
            <a:srgbClr val="E8F3F1"/>
          </a:solidFill>
          <a:ln w="12700">
            <a:solidFill>
              <a:srgbClr val="D6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874519"/>
            <a:ext cx="2560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0F3D3A"/>
                </a:solidFill>
                <a:latin typeface="Calibri"/>
              </a:rPr>
              <a:t>4.2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78892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B68"/>
                </a:solidFill>
                <a:latin typeface="Calibri"/>
              </a:rPr>
              <a:t>Pilot rating out of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06839" y="1737360"/>
            <a:ext cx="2560320" cy="1737360"/>
          </a:xfrm>
          <a:prstGeom prst="rect">
            <a:avLst/>
          </a:prstGeom>
          <a:solidFill>
            <a:srgbClr val="E8F3F1"/>
          </a:solidFill>
          <a:ln w="12700">
            <a:solidFill>
              <a:srgbClr val="D6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39" y="1874519"/>
            <a:ext cx="2560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5B6B68"/>
                </a:solidFill>
                <a:latin typeface="Calibri"/>
              </a:rPr>
              <a:t>$0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39" y="278892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B68"/>
                </a:solidFill>
                <a:latin typeface="Calibri"/>
              </a:rPr>
              <a:t>Employee 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4048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888888"/>
                </a:solidFill>
                <a:latin typeface="Calibri"/>
              </a:rPr>
              <a:t>•  </a:t>
            </a:r>
            <a:r>
              <a:rPr sz="1500" b="1">
                <a:solidFill>
                  <a:srgbClr val="34433F"/>
                </a:solidFill>
                <a:latin typeface="Calibri"/>
              </a:rPr>
              <a:t>Mental health and EAP.</a:t>
            </a:r>
            <a:r>
              <a:rPr sz="1500">
                <a:solidFill>
                  <a:srgbClr val="34433F"/>
                </a:solidFill>
                <a:latin typeface="Calibri"/>
              </a:rPr>
              <a:t>  Native employee assistance with eight free sessions per person each year.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888888"/>
                </a:solidFill>
                <a:latin typeface="Calibri"/>
              </a:rPr>
              <a:t>•  </a:t>
            </a:r>
            <a:r>
              <a:rPr sz="1500" b="1">
                <a:solidFill>
                  <a:srgbClr val="34433F"/>
                </a:solidFill>
                <a:latin typeface="Calibri"/>
              </a:rPr>
              <a:t>Fitness and activity tracking.</a:t>
            </a:r>
            <a:r>
              <a:rPr sz="1500">
                <a:solidFill>
                  <a:srgbClr val="34433F"/>
                </a:solidFill>
                <a:latin typeface="Calibri"/>
              </a:rPr>
              <a:t>  Syncs with common wearables and phone apps, no hardware required.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888888"/>
                </a:solidFill>
                <a:latin typeface="Calibri"/>
              </a:rPr>
              <a:t>•  </a:t>
            </a:r>
            <a:r>
              <a:rPr sz="1500" b="1">
                <a:solidFill>
                  <a:srgbClr val="34433F"/>
                </a:solidFill>
                <a:latin typeface="Calibri"/>
              </a:rPr>
              <a:t>Nutrition guidance.</a:t>
            </a:r>
            <a:r>
              <a:rPr sz="1500">
                <a:solidFill>
                  <a:srgbClr val="34433F"/>
                </a:solidFill>
                <a:latin typeface="Calibri"/>
              </a:rPr>
              <a:t>  Weekly content and a dietitian question and answer feature.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888888"/>
                </a:solidFill>
                <a:latin typeface="Calibri"/>
              </a:rPr>
              <a:t>•  </a:t>
            </a:r>
            <a:r>
              <a:rPr sz="1500" b="1">
                <a:solidFill>
                  <a:srgbClr val="34433F"/>
                </a:solidFill>
                <a:latin typeface="Calibri"/>
              </a:rPr>
              <a:t>One sign-on.</a:t>
            </a:r>
            <a:r>
              <a:rPr sz="1500">
                <a:solidFill>
                  <a:srgbClr val="34433F"/>
                </a:solidFill>
                <a:latin typeface="Calibri"/>
              </a:rPr>
              <a:t>  Access through the company single sign-on, eligibility synced from records.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64592" cy="822960"/>
          </a:xfrm>
          <a:prstGeom prst="rect">
            <a:avLst/>
          </a:prstGeom>
          <a:solidFill>
            <a:srgbClr val="147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3D3A"/>
                </a:solidFill>
                <a:latin typeface="Calibri"/>
              </a:rPr>
              <a:t>Vendor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70432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7B78"/>
                </a:solidFill>
                <a:latin typeface="Calibri"/>
              </a:rPr>
              <a:t>Weighted scores across nine criteria, September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27632"/>
            <a:ext cx="10607040" cy="18288"/>
          </a:xfrm>
          <a:prstGeom prst="rect">
            <a:avLst/>
          </a:prstGeom>
          <a:solidFill>
            <a:srgbClr val="DF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828800"/>
          <a:ext cx="676656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80960" y="201168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CAA24A"/>
                </a:solidFill>
                <a:latin typeface="Calibri"/>
              </a:rPr>
              <a:t>•  </a:t>
            </a:r>
            <a:r>
              <a:rPr sz="1400" b="1">
                <a:solidFill>
                  <a:srgbClr val="34433F"/>
                </a:solidFill>
                <a:latin typeface="Calibri"/>
              </a:rPr>
              <a:t>HealthPath selected.</a:t>
            </a:r>
            <a:r>
              <a:rPr sz="1400">
                <a:solidFill>
                  <a:srgbClr val="34433F"/>
                </a:solidFill>
                <a:latin typeface="Calibri"/>
              </a:rPr>
              <a:t>  Highest score on native EAP and admin reporting.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CAA24A"/>
                </a:solidFill>
                <a:latin typeface="Calibri"/>
              </a:rPr>
              <a:t>•  </a:t>
            </a:r>
            <a:r>
              <a:rPr sz="1400" b="1">
                <a:solidFill>
                  <a:srgbClr val="34433F"/>
                </a:solidFill>
                <a:latin typeface="Calibri"/>
              </a:rPr>
              <a:t>Best pilot rating.</a:t>
            </a:r>
            <a:r>
              <a:rPr sz="1400">
                <a:solidFill>
                  <a:srgbClr val="34433F"/>
                </a:solidFill>
                <a:latin typeface="Calibri"/>
              </a:rPr>
              <a:t>  4.2 of 5 versus 3.8 and 3.5 for the others.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CAA24A"/>
                </a:solidFill>
                <a:latin typeface="Calibri"/>
              </a:rPr>
              <a:t>•  </a:t>
            </a:r>
            <a:r>
              <a:rPr sz="1400" b="1">
                <a:solidFill>
                  <a:srgbClr val="34433F"/>
                </a:solidFill>
                <a:latin typeface="Calibri"/>
              </a:rPr>
              <a:t>Strong references.</a:t>
            </a:r>
            <a:r>
              <a:rPr sz="1400">
                <a:solidFill>
                  <a:srgbClr val="34433F"/>
                </a:solidFill>
                <a:latin typeface="Calibri"/>
              </a:rPr>
              <a:t>  Three manufacturing HR directors, all positive.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CAA24A"/>
                </a:solidFill>
                <a:latin typeface="Calibri"/>
              </a:rPr>
              <a:t>•  </a:t>
            </a:r>
            <a:r>
              <a:rPr sz="1400" b="1">
                <a:solidFill>
                  <a:srgbClr val="34433F"/>
                </a:solidFill>
                <a:latin typeface="Calibri"/>
              </a:rPr>
              <a:t>Decision locked.</a:t>
            </a:r>
            <a:r>
              <a:rPr sz="1400">
                <a:solidFill>
                  <a:srgbClr val="34433F"/>
                </a:solidFill>
                <a:latin typeface="Calibri"/>
              </a:rPr>
              <a:t>  Contract signed November 2025.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64592" cy="822960"/>
          </a:xfrm>
          <a:prstGeom prst="rect">
            <a:avLst/>
          </a:prstGeom>
          <a:solidFill>
            <a:srgbClr val="147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3D3A"/>
                </a:solidFill>
                <a:latin typeface="Calibri"/>
              </a:rPr>
              <a:t>Rollout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70432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7B78"/>
                </a:solidFill>
                <a:latin typeface="Calibri"/>
              </a:rPr>
              <a:t>Phase two milestones, owners, and target dates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27632"/>
            <a:ext cx="10607040" cy="18288"/>
          </a:xfrm>
          <a:prstGeom prst="rect">
            <a:avLst/>
          </a:prstGeom>
          <a:solidFill>
            <a:srgbClr val="DF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10881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743200"/>
                <a:gridCol w="2194560"/>
                <a:gridCol w="1371600"/>
              </a:tblGrid>
              <a:tr h="600891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 marL="91440" marT="36576" marB="36576" anchor="ctr">
                    <a:solidFill>
                      <a:srgbClr val="14746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91440" marT="36576" marB="36576" anchor="ctr">
                    <a:solidFill>
                      <a:srgbClr val="14746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91440" marT="36576" marB="36576" anchor="ctr">
                    <a:solidFill>
                      <a:srgbClr val="14746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91440" marT="36576" marB="36576" anchor="ctr">
                    <a:solidFill>
                      <a:srgbClr val="14746F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F3B38"/>
                          </a:solidFill>
                          <a:latin typeface="Calibri"/>
                        </a:rPr>
                        <a:t>Contract and privacy addendum signed</a:t>
                      </a:r>
                    </a:p>
                  </a:txBody>
                  <a:tcPr marL="91440" marT="36576" marB="36576" anchor="ctr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F3B38"/>
                          </a:solidFill>
                          <a:latin typeface="Calibri"/>
                        </a:rPr>
                        <a:t>CM and Legal</a:t>
                      </a:r>
                    </a:p>
                  </a:txBody>
                  <a:tcPr marL="91440" marT="36576" marB="36576" anchor="ctr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F3B38"/>
                          </a:solidFill>
                          <a:latin typeface="Calibri"/>
                        </a:rPr>
                        <a:t>December 2025</a:t>
                      </a:r>
                    </a:p>
                  </a:txBody>
                  <a:tcPr marL="91440" marT="36576" marB="36576" anchor="ctr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F3B38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91440" marT="36576" marB="36576" anchor="ctr">
                    <a:solidFill>
                      <a:srgbClr val="E8F3F1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F3B38"/>
                          </a:solidFill>
                          <a:latin typeface="Calibri"/>
                        </a:rPr>
                        <a:t>Records and single sign-on integration</a:t>
                      </a:r>
                    </a:p>
                  </a:txBody>
                  <a:tcPr marL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F3B38"/>
                          </a:solidFill>
                          <a:latin typeface="Calibri"/>
                        </a:rPr>
                        <a:t>IT and CM</a:t>
                      </a:r>
                    </a:p>
                  </a:txBody>
                  <a:tcPr marL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F3B38"/>
                          </a:solidFill>
                          <a:latin typeface="Calibri"/>
                        </a:rPr>
                        <a:t>October 2026</a:t>
                      </a:r>
                    </a:p>
                  </a:txBody>
                  <a:tcPr marL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F3B38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 marL="91440" marT="36576" marB="36576" anchor="ctr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F3B38"/>
                          </a:solidFill>
                          <a:latin typeface="Calibri"/>
                        </a:rPr>
                        <a:t>Employee communication plan</a:t>
                      </a:r>
                    </a:p>
                  </a:txBody>
                  <a:tcPr marL="91440" marT="36576" marB="36576" anchor="ctr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F3B38"/>
                          </a:solidFill>
                          <a:latin typeface="Calibri"/>
                        </a:rPr>
                        <a:t>Carlos Moore</a:t>
                      </a:r>
                    </a:p>
                  </a:txBody>
                  <a:tcPr marL="91440" marT="36576" marB="36576" anchor="ctr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F3B38"/>
                          </a:solidFill>
                          <a:latin typeface="Calibri"/>
                        </a:rPr>
                        <a:t>October 2026</a:t>
                      </a:r>
                    </a:p>
                  </a:txBody>
                  <a:tcPr marL="91440" marT="36576" marB="36576" anchor="ctr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F3B38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 marL="91440" marT="36576" marB="36576" anchor="ctr">
                    <a:solidFill>
                      <a:srgbClr val="E8F3F1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F3B38"/>
                          </a:solidFill>
                          <a:latin typeface="Calibri"/>
                        </a:rPr>
                        <a:t>Manager training sessions</a:t>
                      </a:r>
                    </a:p>
                  </a:txBody>
                  <a:tcPr marL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F3B38"/>
                          </a:solidFill>
                          <a:latin typeface="Calibri"/>
                        </a:rPr>
                        <a:t>Carlos Moore</a:t>
                      </a:r>
                    </a:p>
                  </a:txBody>
                  <a:tcPr marL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F3B38"/>
                          </a:solidFill>
                          <a:latin typeface="Calibri"/>
                        </a:rPr>
                        <a:t>November 2026</a:t>
                      </a:r>
                    </a:p>
                  </a:txBody>
                  <a:tcPr marL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F3B38"/>
                          </a:solidFill>
                          <a:latin typeface="Calibri"/>
                        </a:rPr>
                        <a:t>Pending</a:t>
                      </a:r>
                    </a:p>
                  </a:txBody>
                  <a:tcPr marL="91440" marT="36576" marB="36576" anchor="ctr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F3B38"/>
                          </a:solidFill>
                          <a:latin typeface="Calibri"/>
                        </a:rPr>
                        <a:t>All hands announcement</a:t>
                      </a:r>
                    </a:p>
                  </a:txBody>
                  <a:tcPr marL="91440" marT="36576" marB="36576" anchor="ctr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F3B38"/>
                          </a:solidFill>
                          <a:latin typeface="Calibri"/>
                        </a:rPr>
                        <a:t>Carlos Moore</a:t>
                      </a:r>
                    </a:p>
                  </a:txBody>
                  <a:tcPr marL="91440" marT="36576" marB="36576" anchor="ctr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F3B38"/>
                          </a:solidFill>
                          <a:latin typeface="Calibri"/>
                        </a:rPr>
                        <a:t>November 2026</a:t>
                      </a:r>
                    </a:p>
                  </a:txBody>
                  <a:tcPr marL="91440" marT="36576" marB="36576" anchor="ctr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F3B38"/>
                          </a:solidFill>
                          <a:latin typeface="Calibri"/>
                        </a:rPr>
                        <a:t>Pending</a:t>
                      </a:r>
                    </a:p>
                  </a:txBody>
                  <a:tcPr marL="91440" marT="36576" marB="36576" anchor="ctr">
                    <a:solidFill>
                      <a:srgbClr val="E8F3F1"/>
                    </a:solidFill>
                  </a:tcPr>
                </a:tc>
              </a:tr>
              <a:tr h="600894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F3B38"/>
                          </a:solidFill>
                          <a:latin typeface="Calibri"/>
                        </a:rPr>
                        <a:t>Program live for all employees</a:t>
                      </a:r>
                    </a:p>
                  </a:txBody>
                  <a:tcPr marL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F3B38"/>
                          </a:solidFill>
                          <a:latin typeface="Calibri"/>
                        </a:rPr>
                        <a:t>CM and HealthPath</a:t>
                      </a:r>
                    </a:p>
                  </a:txBody>
                  <a:tcPr marL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F3B38"/>
                          </a:solidFill>
                          <a:latin typeface="Calibri"/>
                        </a:rPr>
                        <a:t>January 2027</a:t>
                      </a:r>
                    </a:p>
                  </a:txBody>
                  <a:tcPr marL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F3B38"/>
                          </a:solidFill>
                          <a:latin typeface="Calibri"/>
                        </a:rPr>
                        <a:t>Scheduled</a:t>
                      </a:r>
                    </a:p>
                  </a:txBody>
                  <a:tcPr marL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64592" cy="822960"/>
          </a:xfrm>
          <a:prstGeom prst="rect">
            <a:avLst/>
          </a:prstGeom>
          <a:solidFill>
            <a:srgbClr val="147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3D3A"/>
                </a:solidFill>
                <a:latin typeface="Calibri"/>
              </a:rPr>
              <a:t>Pilot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70432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7B78"/>
                </a:solidFill>
                <a:latin typeface="Calibri"/>
              </a:rPr>
              <a:t>How the thirty person pilot rated each pillar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27632"/>
            <a:ext cx="10607040" cy="18288"/>
          </a:xfrm>
          <a:prstGeom prst="rect">
            <a:avLst/>
          </a:prstGeom>
          <a:solidFill>
            <a:srgbClr val="DF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828800"/>
          <a:ext cx="566928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8" name="Picture 7" descr="img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828800"/>
            <a:ext cx="3511296" cy="4389120"/>
          </a:xfrm>
          <a:prstGeom prst="rect">
            <a:avLst/>
          </a:prstGeom>
        </p:spPr>
      </p:pic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CA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Healthier people, stronger company.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CFE6E2"/>
                </a:solidFill>
                <a:latin typeface="Calibri"/>
              </a:rPr>
              <a:t>Next: finalize integration and the communication plan through October 2026,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CFE6E2"/>
                </a:solidFill>
                <a:latin typeface="Calibri"/>
              </a:rPr>
              <a:t>manager training in November, and launch to all employees in January 2027.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AA24A"/>
                </a:solidFill>
                <a:latin typeface="Calibri"/>
              </a:rPr>
              <a:t>Carlos Moore  |  carlos.moore@Finthesiss.ai  |  (615) 555-0117</a:t>
            </a: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