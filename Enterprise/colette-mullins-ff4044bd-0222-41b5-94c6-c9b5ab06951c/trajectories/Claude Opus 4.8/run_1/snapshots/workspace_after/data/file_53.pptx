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125C5B"/>
                </a:solidFill>
              </a:rPr>
              <a:t>Evening program by segment (minutes)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Evening program by segment (minutes)</c:v>
                </c:pt>
              </c:strCache>
            </c:strRef>
          </c:tx>
          <c:dPt>
            <c:idx val="0"/>
            <c:spPr>
              <a:solidFill>
                <a:srgbClr val="125C5B"/>
              </a:solidFill>
            </c:spPr>
          </c:dPt>
          <c:dPt>
            <c:idx val="1"/>
            <c:spPr>
              <a:solidFill>
                <a:srgbClr val="1E7E7C"/>
              </a:solidFill>
            </c:spPr>
          </c:dPt>
          <c:dPt>
            <c:idx val="2"/>
            <c:spPr>
              <a:solidFill>
                <a:srgbClr val="C96E4A"/>
              </a:solidFill>
            </c:spPr>
          </c:dPt>
          <c:dPt>
            <c:idx val="3"/>
            <c:spPr>
              <a:solidFill>
                <a:srgbClr val="2F7D5B"/>
              </a:solidFill>
            </c:spPr>
          </c:dPt>
          <c:dPt>
            <c:idx val="4"/>
            <c:spPr>
              <a:solidFill>
                <a:srgbClr val="B58A3C"/>
              </a:solidFill>
            </c:spPr>
          </c:dPt>
          <c:dPt>
            <c:idx val="5"/>
            <c:spPr>
              <a:solidFill>
                <a:srgbClr val="7D889C"/>
              </a:solidFill>
            </c:spPr>
          </c:dPt>
          <c:cat>
            <c:strRef>
              <c:f>Sheet1!$A$2:$A$7</c:f>
              <c:strCache>
                <c:ptCount val="6"/>
                <c:pt idx="0">
                  <c:v>Welcome</c:v>
                </c:pt>
                <c:pt idx="1">
                  <c:v>Readings</c:v>
                </c:pt>
                <c:pt idx="2">
                  <c:v>Joint prayer</c:v>
                </c:pt>
                <c:pt idx="3">
                  <c:v>Witness address</c:v>
                </c:pt>
                <c:pt idx="4">
                  <c:v>Music</c:v>
                </c:pt>
                <c:pt idx="5">
                  <c:v>Reception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30</c:v>
                </c:pt>
                <c:pt idx="2">
                  <c:v>10</c:v>
                </c:pt>
                <c:pt idx="3">
                  <c:v>30</c:v>
                </c:pt>
                <c:pt idx="4">
                  <c:v>10</c:v>
                </c:pt>
                <c:pt idx="5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25C5B"/>
                </a:solidFill>
              </a:rPr>
              <a:t>Service attendance by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Service attendance by year</c:v>
                </c:pt>
              </c:strCache>
            </c:strRef>
          </c:tx>
          <c:spPr>
            <a:solidFill>
              <a:srgbClr val="125C5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2027 (est)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175</c:v>
                </c:pt>
                <c:pt idx="2">
                  <c:v>190</c:v>
                </c:pt>
                <c:pt idx="3">
                  <c:v>200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7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FE7D8"/>
                </a:solidFill>
                <a:latin typeface="Calibri"/>
              </a:rPr>
              <a:t>That They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FE7D8"/>
                </a:solidFill>
                <a:latin typeface="Calibri"/>
              </a:rPr>
              <a:t>May 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96E4A"/>
                </a:solidFill>
                <a:latin typeface="Calibri"/>
              </a:rPr>
              <a:t>Be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011680"/>
            <a:ext cx="6949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Annual Interfaith Prayer Service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BFD8D7"/>
                </a:solidFill>
                <a:latin typeface="Calibri"/>
              </a:rPr>
              <a:t>Cleveland Interfaith Council, 2027 Gathering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754880"/>
            <a:ext cx="6949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FE7D8"/>
                </a:solidFill>
                <a:latin typeface="Calibri"/>
              </a:rPr>
              <a:t>April 17, 2027   |   7:00 PM   |   Cleveland City Hall Rotunda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9CBCA"/>
                </a:solidFill>
                <a:latin typeface="Calibri"/>
              </a:rPr>
              <a:t>Co-chaired by Rev. Colette Mullins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207" dur="indefinite" restart="never" nodeType="tmRoot">
          <p:childTnLst>
            <p:seq concurrent="1" nextAc="seek">
              <p:cTn id="208" dur="indefinite" nodeType="mainSeq">
                <p:childTnLst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Our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7DDDC"/>
                </a:solidFill>
                <a:latin typeface="Calibri"/>
              </a:rPr>
              <a:t>Building dialogue across faith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7453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DDC"/>
                </a:solidFill>
                <a:latin typeface="Calibri"/>
              </a:rPr>
              <a:t>Cleveland Interfaith Council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6400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>
                <a:solidFill>
                  <a:srgbClr val="222B2B"/>
                </a:solidFill>
                <a:latin typeface="Calibri"/>
              </a:rPr>
              <a:t>Each spring, the Council gathers Cleveland's faith communities for an evening of shared prayer, reflection, and witness.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4D5A5A"/>
                </a:solidFill>
                <a:latin typeface="Calibri"/>
              </a:rPr>
              <a:t>The 2027 service takes its theme from the prayer of Jesus that all may be one, with parallel readings drawn from each tradition represented.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1E7E7C"/>
                </a:solidFill>
                <a:latin typeface="Calibri"/>
              </a:rPr>
              <a:t>This is an act of breathtaking audacity: to claim that what unites us is deeper than what divides 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4114800" cy="406908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0116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This year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606040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C96E4A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71576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D5A5A"/>
                </a:solidFill>
                <a:latin typeface="Calibri"/>
              </a:rPr>
              <a:t>faith communities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383280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C96E4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49300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D5A5A"/>
                </a:solidFill>
                <a:latin typeface="Calibri"/>
              </a:rPr>
              <a:t>co-chairs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160520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C96E4A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27024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D5A5A"/>
                </a:solidFill>
                <a:latin typeface="Calibri"/>
              </a:rPr>
              <a:t>shared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937760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C96E4A"/>
                </a:solidFill>
                <a:latin typeface="Calibri"/>
              </a:rPr>
              <a:t>200+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0474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D5A5A"/>
                </a:solidFill>
                <a:latin typeface="Calibri"/>
              </a:rPr>
              <a:t>expected guests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18" dur="indefinite" restart="never" nodeType="tmRoot">
          <p:childTnLst>
            <p:seq concurrent="1" nextAc="seek">
              <p:cTn id="219" dur="indefinite" nodeType="mainSeq">
                <p:childTnLst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Participating 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7DDDC"/>
                </a:solidFill>
                <a:latin typeface="Calibri"/>
              </a:rPr>
              <a:t>Five traditions, one evening of prayer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7453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DDC"/>
                </a:solidFill>
                <a:latin typeface="Calibri"/>
              </a:rPr>
              <a:t>Cleveland Interfaith Council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566160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anchor="ctr">
                    <a:solidFill>
                      <a:srgbClr val="125C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Tradition</a:t>
                      </a:r>
                    </a:p>
                  </a:txBody>
                  <a:tcPr anchor="ctr">
                    <a:solidFill>
                      <a:srgbClr val="125C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 anchor="ctr">
                    <a:solidFill>
                      <a:srgbClr val="125C5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St. Genevieve Community Church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Episcopal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Rev. Colette Mullins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St. Augustine Catholic Parish</a:t>
                      </a:r>
                    </a:p>
                  </a:txBody>
                  <a:tcPr anchor="ctr"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Roman Catholic</a:t>
                      </a:r>
                    </a:p>
                  </a:txBody>
                  <a:tcPr anchor="ctr"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Father Thomas Murphy</a:t>
                      </a:r>
                    </a:p>
                  </a:txBody>
                  <a:tcPr anchor="ctr">
                    <a:solidFill>
                      <a:srgbClr val="EFE7D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Cleveland Islamic Center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Muslim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Imam Rashid Hassan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Temple Israel of Cleveland</a:t>
                      </a:r>
                    </a:p>
                  </a:txBody>
                  <a:tcPr anchor="ctr"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Jewish</a:t>
                      </a:r>
                    </a:p>
                  </a:txBody>
                  <a:tcPr anchor="ctr"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Rabbi Miriam Goldfarb</a:t>
                      </a:r>
                    </a:p>
                  </a:txBody>
                  <a:tcPr anchor="ctr">
                    <a:solidFill>
                      <a:srgbClr val="EFE7D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First Baptist Church of Cleveland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Baptist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2B"/>
                          </a:solidFill>
                          <a:latin typeface="Calibri"/>
                        </a:rPr>
                        <a:t>Rev. James Washington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225" dur="indefinite" restart="never" nodeType="tmRoot">
          <p:childTnLst>
            <p:seq concurrent="1" nextAc="seek">
              <p:cTn id="226" dur="indefinite" nodeType="mainSeq">
                <p:childTnLst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Order of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7DDDC"/>
                </a:solidFill>
                <a:latin typeface="Calibri"/>
              </a:rPr>
              <a:t>An evening of shared prayer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7453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DDC"/>
                </a:solidFill>
                <a:latin typeface="Calibri"/>
              </a:rPr>
              <a:t>Cleveland Interfaith Council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212080" cy="86868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7:00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29968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Gathering and welcome music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21208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29968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7:10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029968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Welcome and introduction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99232"/>
            <a:ext cx="5212080" cy="86868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99232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0896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7:20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1089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Reading from the Torah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99232"/>
            <a:ext cx="521208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99232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10896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7:30 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1089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Reading from the Quran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78224"/>
            <a:ext cx="5212080" cy="86868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78224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187952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7:40 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187952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Reading from the Gospel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78224"/>
            <a:ext cx="521208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78224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187952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7:50 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187952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Joint prayer for peace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157216"/>
            <a:ext cx="5212080" cy="86868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157216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66944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8:00 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266944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Community witness address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157216"/>
            <a:ext cx="521208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5157216"/>
            <a:ext cx="109728" cy="868680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266944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5B"/>
                </a:solidFill>
                <a:latin typeface="Calibri"/>
              </a:rPr>
              <a:t>8:30 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266944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2B2B"/>
                </a:solidFill>
                <a:latin typeface="Calibri"/>
              </a:rPr>
              <a:t>Closing blessing and reception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232" dur="indefinite" restart="never" nodeType="tmRoot">
          <p:childTnLst>
            <p:seq concurrent="1" nextAc="seek">
              <p:cTn id="233" dur="indefinite" nodeType="mainSeq">
                <p:childTnLst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05840"/>
            <a:ext cx="1280160" cy="82296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424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DAE9E8"/>
                </a:solidFill>
                <a:latin typeface="Calibri"/>
              </a:rPr>
              <a:t>  Confirm the City Hall venue contract by November 15, 2026.</a:t>
            </a:r>
            <a:r>
              <a:t/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DAE9E8"/>
                </a:solidFill>
                <a:latin typeface="Calibri"/>
              </a:rPr>
              <a:t>  Secure the sound system and draft the program order for December review.</a:t>
            </a:r>
            <a:r>
              <a:t/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DAE9E8"/>
                </a:solidFill>
                <a:latin typeface="Calibri"/>
              </a:rPr>
              <a:t>  Coordinate the winter food pantry drive, December 1 to 20, 2026.</a:t>
            </a:r>
            <a:r>
              <a:t/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DAE9E8"/>
                </a:solidFill>
                <a:latin typeface="Calibri"/>
              </a:rPr>
              <a:t>  Schedule the joint choir rehearsal for March 2027.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6E4A"/>
                </a:solidFill>
                <a:latin typeface="Calibri"/>
              </a:rPr>
              <a:t>Cleveland Interfaith Council   |   clevelandinterfaith.org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43" dur="indefinite" restart="never" nodeType="tmRoot">
          <p:childTnLst>
            <p:seq concurrent="1" nextAc="seek">
              <p:cTn id="244" dur="indefinite" nodeType="mainSeq">
                <p:childTnLst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C9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6E4A"/>
                </a:solidFill>
                <a:latin typeface="Calibri"/>
              </a:rPr>
              <a:t>PLANNING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Gathering Insights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783080"/>
          <a:ext cx="55778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78308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Cleveland Interfaith Council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517" dur="indefinite" restart="never" nodeType="tmRoot">
          <p:childTnLst>
            <p:seq concurrent="1" nextAc="seek">
              <p:cTn id="518" dur="indefinite" nodeType="mainSeq">
                <p:childTnLst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