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Systolic</c:v>
                </c:pt>
              </c:strCache>
            </c:strRef>
          </c:tx>
          <c:spPr>
            <a:ln w="31750">
              <a:solidFill>
                <a:srgbClr val="2DD4BF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134</c:v>
                </c:pt>
                <c:pt idx="1">
                  <c:v>133</c:v>
                </c:pt>
                <c:pt idx="2">
                  <c:v>132</c:v>
                </c:pt>
                <c:pt idx="3">
                  <c:v>131</c:v>
                </c:pt>
                <c:pt idx="4">
                  <c:v>130</c:v>
                </c:pt>
                <c:pt idx="5">
                  <c:v>130</c:v>
                </c:pt>
                <c:pt idx="6">
                  <c:v>129</c:v>
                </c:pt>
                <c:pt idx="7">
                  <c:v>129</c:v>
                </c:pt>
                <c:pt idx="8">
                  <c:v>129</c:v>
                </c:pt>
                <c:pt idx="9">
                  <c:v>129</c:v>
                </c:pt>
                <c:pt idx="10">
                  <c:v>129</c:v>
                </c:pt>
                <c:pt idx="11">
                  <c:v>129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Diastolic</c:v>
                </c:pt>
              </c:strCache>
            </c:strRef>
          </c:tx>
          <c:spPr>
            <a:ln w="31750">
              <a:solidFill>
                <a:srgbClr val="D4AF6A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84</c:v>
                </c:pt>
                <c:pt idx="1">
                  <c:v>83</c:v>
                </c:pt>
                <c:pt idx="2">
                  <c:v>82</c:v>
                </c:pt>
                <c:pt idx="3">
                  <c:v>81</c:v>
                </c:pt>
                <c:pt idx="4">
                  <c:v>80</c:v>
                </c:pt>
                <c:pt idx="5">
                  <c:v>80</c:v>
                </c:pt>
                <c:pt idx="6">
                  <c:v>79</c:v>
                </c:pt>
                <c:pt idx="7">
                  <c:v>79</c:v>
                </c:pt>
                <c:pt idx="8">
                  <c:v>79</c:v>
                </c:pt>
                <c:pt idx="9">
                  <c:v>79</c:v>
                </c:pt>
                <c:pt idx="10">
                  <c:v>79</c:v>
                </c:pt>
                <c:pt idx="11">
                  <c:v>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9AA6B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9AA6B8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Miles walked</c:v>
                </c:pt>
              </c:strCache>
            </c:strRef>
          </c:tx>
          <c:dPt>
            <c:idx val="0"/>
            <c:spPr>
              <a:solidFill>
                <a:srgbClr val="2DD4BF"/>
              </a:solidFill>
            </c:spPr>
          </c:dPt>
          <c:dPt>
            <c:idx val="1"/>
            <c:spPr>
              <a:solidFill>
                <a:srgbClr val="2DD4BF"/>
              </a:solidFill>
            </c:spPr>
          </c:dPt>
          <c:dPt>
            <c:idx val="2"/>
            <c:spPr>
              <a:solidFill>
                <a:srgbClr val="2DD4BF"/>
              </a:solidFill>
            </c:spPr>
          </c:dPt>
          <c:dPt>
            <c:idx val="3"/>
            <c:spPr>
              <a:solidFill>
                <a:srgbClr val="2DD4BF"/>
              </a:solidFill>
            </c:spPr>
          </c:dPt>
          <c:dPt>
            <c:idx val="4"/>
            <c:spPr>
              <a:solidFill>
                <a:srgbClr val="2DD4BF"/>
              </a:solidFill>
            </c:spPr>
          </c:dPt>
          <c:dPt>
            <c:idx val="5"/>
            <c:spPr>
              <a:solidFill>
                <a:srgbClr val="2DD4BF"/>
              </a:solidFill>
            </c:spPr>
          </c:dPt>
          <c:dPt>
            <c:idx val="6"/>
            <c:spPr>
              <a:solidFill>
                <a:srgbClr val="2DD4BF"/>
              </a:solidFill>
            </c:spPr>
          </c:dPt>
          <c:dPt>
            <c:idx val="7"/>
            <c:spPr>
              <a:solidFill>
                <a:srgbClr val="2DD4BF"/>
              </a:solidFill>
            </c:spPr>
          </c:dPt>
          <c:dPt>
            <c:idx val="8"/>
            <c:spPr>
              <a:solidFill>
                <a:srgbClr val="2DD4BF"/>
              </a:solidFill>
            </c:spPr>
          </c:dPt>
          <c:dPt>
            <c:idx val="9"/>
            <c:spPr>
              <a:solidFill>
                <a:srgbClr val="2DD4BF"/>
              </a:solidFill>
            </c:spPr>
          </c:dPt>
          <c:dPt>
            <c:idx val="10"/>
            <c:spPr>
              <a:solidFill>
                <a:srgbClr val="2DD4BF"/>
              </a:solidFill>
            </c:spPr>
          </c:dPt>
          <c:dPt>
            <c:idx val="11"/>
            <c:spPr>
              <a:solidFill>
                <a:srgbClr val="2DD4BF"/>
              </a:solidFill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30.6</c:v>
                </c:pt>
                <c:pt idx="1">
                  <c:v>29.0</c:v>
                </c:pt>
                <c:pt idx="2">
                  <c:v>30.5</c:v>
                </c:pt>
                <c:pt idx="3">
                  <c:v>31.2</c:v>
                </c:pt>
                <c:pt idx="4">
                  <c:v>32.4</c:v>
                </c:pt>
                <c:pt idx="5">
                  <c:v>29.8</c:v>
                </c:pt>
                <c:pt idx="6">
                  <c:v>30.1</c:v>
                </c:pt>
                <c:pt idx="7">
                  <c:v>33.0</c:v>
                </c:pt>
                <c:pt idx="8">
                  <c:v>31.5</c:v>
                </c:pt>
                <c:pt idx="9">
                  <c:v>30.9</c:v>
                </c:pt>
                <c:pt idx="10">
                  <c:v>29.7</c:v>
                </c:pt>
                <c:pt idx="11">
                  <c:v>31.4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9AA6B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9AA6B8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spend</c:v>
                </c:pt>
              </c:strCache>
            </c:strRef>
          </c:tx>
          <c:dPt>
            <c:idx val="0"/>
            <c:spPr>
              <a:solidFill>
                <a:srgbClr val="2DD4BF"/>
              </a:solidFill>
            </c:spPr>
          </c:dPt>
          <c:dPt>
            <c:idx val="1"/>
            <c:spPr>
              <a:solidFill>
                <a:srgbClr val="D4AF6A"/>
              </a:solidFill>
            </c:spPr>
          </c:dPt>
          <c:dPt>
            <c:idx val="2"/>
            <c:spPr>
              <a:solidFill>
                <a:srgbClr val="7C9AD4"/>
              </a:solidFill>
            </c:spPr>
          </c:dPt>
          <c:dPt>
            <c:idx val="3"/>
            <c:spPr>
              <a:solidFill>
                <a:srgbClr val="B06A8F"/>
              </a:solidFill>
            </c:spPr>
          </c:dPt>
          <c:cat>
            <c:strRef>
              <c:f>Sheet1!$A$2:$A$5</c:f>
              <c:strCache>
                <c:ptCount val="4"/>
                <c:pt idx="0">
                  <c:v>Groceries</c:v>
                </c:pt>
                <c:pt idx="1">
                  <c:v>Dining out</c:v>
                </c:pt>
                <c:pt idx="2">
                  <c:v>General goods</c:v>
                </c:pt>
                <c:pt idx="3">
                  <c:v>Gas and auto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5149</c:v>
                </c:pt>
                <c:pt idx="1">
                  <c:v>2547</c:v>
                </c:pt>
                <c:pt idx="2">
                  <c:v>2867</c:v>
                </c:pt>
                <c:pt idx="3">
                  <c:v>846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100">
                  <a:solidFill>
                    <a:srgbClr val="E8EE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9AA6B8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514524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280160" cy="73152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AF6A"/>
                </a:solidFill>
                <a:latin typeface="Calibri"/>
              </a:rPr>
              <a:t>PERSONAL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E8EEF7"/>
                </a:solidFill>
                <a:latin typeface="Georgia"/>
              </a:rPr>
              <a:t>A Year in Review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9AA6B8"/>
                </a:solidFill>
                <a:latin typeface="Georgia"/>
              </a:rPr>
              <a:t>Health, Home, and Family,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4CEDD"/>
                </a:solidFill>
                <a:latin typeface="Calibri"/>
              </a:rPr>
              <a:t>Twelve months of steady habits: blood pressure trending down, six days a week of movement, and a kitchen finally worth cooking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6B8"/>
                </a:solidFill>
                <a:latin typeface="Calibri"/>
              </a:rPr>
              <a:t>Carlos Moore  |  Nashville, Tennessee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EF7"/>
                </a:solidFill>
                <a:latin typeface="Georgia"/>
              </a:rPr>
              <a:t>Blood Pressure, Held in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6B8"/>
                </a:solidFill>
                <a:latin typeface="Calibri"/>
              </a:rPr>
              <a:t>Monthly average, home readings, goal under 130 over 80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406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201168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Down and steady.</a:t>
            </a:r>
            <a:r>
              <a:rPr sz="1400">
                <a:solidFill>
                  <a:srgbClr val="C4CEDD"/>
                </a:solidFill>
                <a:latin typeface="Calibri"/>
              </a:rPr>
              <a:t>  Systolic fell from 134 to 128 over the year.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Within goal.</a:t>
            </a:r>
            <a:r>
              <a:rPr sz="1400">
                <a:solidFill>
                  <a:srgbClr val="C4CEDD"/>
                </a:solidFill>
                <a:latin typeface="Calibri"/>
              </a:rPr>
              <a:t>  Held under 130 over 80 since the spring.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What changed.</a:t>
            </a:r>
            <a:r>
              <a:rPr sz="1400">
                <a:solidFill>
                  <a:srgbClr val="C4CEDD"/>
                </a:solidFill>
                <a:latin typeface="Calibri"/>
              </a:rPr>
              <a:t>  Daily medication, less sodium, more walking.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Yoga helped.</a:t>
            </a:r>
            <a:r>
              <a:rPr sz="1400">
                <a:solidFill>
                  <a:srgbClr val="C4CEDD"/>
                </a:solidFill>
                <a:latin typeface="Calibri"/>
              </a:rPr>
              <a:t>  Sleep and readings both improved after January.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EF7"/>
                </a:solidFill>
                <a:latin typeface="Georgia"/>
              </a:rPr>
              <a:t>Movement, Every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6B8"/>
                </a:solidFill>
                <a:latin typeface="Calibri"/>
              </a:rPr>
              <a:t>Total miles walked each month at Percy Warner Park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406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920240"/>
            <a:ext cx="3291840" cy="1234440"/>
          </a:xfrm>
          <a:prstGeom prst="rect">
            <a:avLst/>
          </a:prstGeom>
          <a:solidFill>
            <a:srgbClr val="1F253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02996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4AF6A"/>
                </a:solidFill>
                <a:latin typeface="Calibri"/>
              </a:rPr>
              <a:t>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004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6B8"/>
                </a:solidFill>
                <a:latin typeface="Calibri"/>
              </a:rPr>
              <a:t>miles for the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337560"/>
            <a:ext cx="3291840" cy="1234440"/>
          </a:xfrm>
          <a:prstGeom prst="rect">
            <a:avLst/>
          </a:prstGeom>
          <a:solidFill>
            <a:srgbClr val="1F253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44728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4AF6A"/>
                </a:solidFill>
                <a:latin typeface="Calibri"/>
              </a:rP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08736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6B8"/>
                </a:solidFill>
                <a:latin typeface="Calibri"/>
              </a:rPr>
              <a:t>walks per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754880"/>
            <a:ext cx="3291840" cy="1234440"/>
          </a:xfrm>
          <a:prstGeom prst="rect">
            <a:avLst/>
          </a:prstGeom>
          <a:solidFill>
            <a:srgbClr val="1F2530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86460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4AF6A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50468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6B8"/>
                </a:solidFill>
                <a:latin typeface="Calibri"/>
              </a:rPr>
              <a:t>days a week of movement</a:t>
            </a:r>
          </a:p>
        </p:txBody>
      </p:sp>
    </p:spTree>
  </p:cSld>
  <p:clrMapOvr>
    <a:masterClrMapping/>
  </p:clrMapOvr>
  <p:transition spd="med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EF7"/>
                </a:solidFill>
                <a:latin typeface="Georgia"/>
              </a:rPr>
              <a:t>Where the Card Went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6B8"/>
                </a:solidFill>
                <a:latin typeface="Calibri"/>
              </a:rPr>
              <a:t>2025 rewards card spending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4066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$11,409 total.</a:t>
            </a:r>
            <a:r>
              <a:rPr sz="1400">
                <a:solidFill>
                  <a:srgbClr val="C4CEDD"/>
                </a:solidFill>
                <a:latin typeface="Calibri"/>
              </a:rPr>
              <a:t>  Across the four tracked categories.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Groceries lead.</a:t>
            </a:r>
            <a:r>
              <a:rPr sz="1400">
                <a:solidFill>
                  <a:srgbClr val="C4CEDD"/>
                </a:solidFill>
                <a:latin typeface="Calibri"/>
              </a:rPr>
              <a:t>  Heart healthy cooking at home most nights.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Dining steady.</a:t>
            </a:r>
            <a:r>
              <a:rPr sz="1400">
                <a:solidFill>
                  <a:srgbClr val="C4CEDD"/>
                </a:solidFill>
                <a:latin typeface="Calibri"/>
              </a:rPr>
              <a:t>  Date nights and brunch with Tanya.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4AF6A"/>
                </a:solidFill>
                <a:latin typeface="Calibri"/>
              </a:rPr>
              <a:t>•  </a:t>
            </a:r>
            <a:r>
              <a:rPr sz="1400" b="1">
                <a:solidFill>
                  <a:srgbClr val="C4CEDD"/>
                </a:solidFill>
                <a:latin typeface="Calibri"/>
              </a:rPr>
              <a:t>Rewards earned.</a:t>
            </a:r>
            <a:r>
              <a:rPr sz="1400">
                <a:solidFill>
                  <a:srgbClr val="C4CEDD"/>
                </a:solidFill>
                <a:latin typeface="Calibri"/>
              </a:rPr>
              <a:t>  Paid in full every month, no interest.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64592" cy="822960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EF7"/>
                </a:solidFill>
                <a:latin typeface="Georgia"/>
              </a:rPr>
              <a:t>Home and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22529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6B8"/>
                </a:solidFill>
                <a:latin typeface="Calibri"/>
              </a:rPr>
              <a:t>A few projects that kept the house in good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664208"/>
            <a:ext cx="10607040" cy="18288"/>
          </a:xfrm>
          <a:prstGeom prst="rect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6583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188720"/>
              </a:tblGrid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1A22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91440" anchor="ctr"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1A22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91440" anchor="ctr"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1A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91440" anchor="ctr">
                    <a:solidFill>
                      <a:srgbClr val="D4AF6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Patio sealant reapplication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May 2025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DIY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Roof inspection after storms</a:t>
                      </a:r>
                    </a:p>
                  </a:txBody>
                  <a:tcPr marL="91440" anchor="ctr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September 2025</a:t>
                      </a:r>
                    </a:p>
                  </a:txBody>
                  <a:tcPr marL="91440" anchor="ctr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$150</a:t>
                      </a:r>
                    </a:p>
                  </a:txBody>
                  <a:tcPr marL="91440" anchor="ctr">
                    <a:solidFill>
                      <a:srgbClr val="1B212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Chimney inspection and cleaning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October 2025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Water heater replacement</a:t>
                      </a:r>
                    </a:p>
                  </a:txBody>
                  <a:tcPr marL="91440" anchor="ctr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February 2026</a:t>
                      </a:r>
                    </a:p>
                  </a:txBody>
                  <a:tcPr marL="91440" anchor="ctr"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$1,240</a:t>
                      </a:r>
                    </a:p>
                  </a:txBody>
                  <a:tcPr marL="91440" anchor="ctr">
                    <a:solidFill>
                      <a:srgbClr val="1B212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Quarterly pest control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DBE3EF"/>
                          </a:solidFill>
                          <a:latin typeface="Calibri"/>
                        </a:rPr>
                        <a:t>$89</a:t>
                      </a:r>
                    </a:p>
                  </a:txBody>
                  <a:tcPr marL="91440" anchor="ctr">
                    <a:solidFill>
                      <a:srgbClr val="232B3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74519"/>
            <a:ext cx="3218688" cy="4023360"/>
          </a:xfrm>
          <a:prstGeom prst="rect">
            <a:avLst/>
          </a:prstGeom>
        </p:spPr>
      </p:pic>
    </p:spTree>
  </p:cSld>
  <p:clrMapOvr>
    <a:masterClrMapping/>
  </p:clrMapOvr>
  <p:transition spd="med">
    <p:split orient="horz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828800" cy="54864"/>
          </a:xfrm>
          <a:prstGeom prst="rect">
            <a:avLst/>
          </a:prstGeom>
          <a:solidFill>
            <a:srgbClr val="D4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E8EEF7"/>
                </a:solidFill>
                <a:latin typeface="Georgia"/>
              </a:rPr>
              <a:t>Onward, steady as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4CEDD"/>
                </a:solidFill>
                <a:latin typeface="Calibri"/>
              </a:rPr>
              <a:t>Goals for the year ahead: keep the readings in range, finish the recertification credits,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4CEDD"/>
                </a:solidFill>
                <a:latin typeface="Calibri"/>
              </a:rPr>
              <a:t>and hold the family rhythms that make the rest of it worth doing.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6B8"/>
                </a:solidFill>
                <a:latin typeface="Calibri"/>
              </a:rPr>
              <a:t>Reviewed February 2026, Nashville, Tennessee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