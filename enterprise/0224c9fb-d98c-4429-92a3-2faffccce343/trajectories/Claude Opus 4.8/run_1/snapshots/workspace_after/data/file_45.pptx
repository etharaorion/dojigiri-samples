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Event budget (USD)</c:v>
                </c:pt>
              </c:strCache>
            </c:strRef>
          </c:tx>
          <c:spPr>
            <a:solidFill>
              <a:srgbClr val="2E6CA6"/>
            </a:solidFill>
          </c:spPr>
          <c:cat>
            <c:strRef>
              <c:f>Sheet1!$A$2:$A$6</c:f>
              <c:strCache>
                <c:ptCount val="5"/>
                <c:pt idx="0">
                  <c:v>Venue</c:v>
                </c:pt>
                <c:pt idx="1">
                  <c:v>Catering</c:v>
                </c:pt>
                <c:pt idx="2">
                  <c:v>Production</c:v>
                </c:pt>
                <c:pt idx="3">
                  <c:v>Marketing</c:v>
                </c:pt>
                <c:pt idx="4">
                  <c:v>Awards and supplies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</c:v>
                </c:pt>
                <c:pt idx="1">
                  <c:v>8000</c:v>
                </c:pt>
                <c:pt idx="2">
                  <c:v>10000</c:v>
                </c:pt>
                <c:pt idx="3">
                  <c:v>5000</c:v>
                </c:pt>
                <c:pt idx="4">
                  <c:v>10000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B2A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B2A3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B2A3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640080"/>
            <a:ext cx="1463040" cy="1463040"/>
          </a:xfrm>
          <a:prstGeom prst="ellipse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Sponsor the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FE3F5"/>
                </a:solidFill>
                <a:latin typeface="Calibri"/>
              </a:rPr>
              <a:t>Annual Youth Arts Showcase, Great Lakes Discovery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Detroit Youth Arts Alliance  |  Andrew Santos, Executive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B2A3A"/>
                </a:solidFill>
                <a:latin typeface="Calibri"/>
              </a:rPr>
              <a:t>One night raises a year of studio time for more than four hundred young artists.</a:t>
            </a:r>
          </a:p>
          <a:p>
            <a:pPr algn="l"/>
            <a:r>
              <a:rPr sz="2000" b="0">
                <a:solidFill>
                  <a:srgbClr val="1B2A3A"/>
                </a:solidFill>
                <a:latin typeface="Calibri"/>
              </a:rPr>
              <a:t>Goal of 120,000 USD across tickets, sponsorships, and a live auction.</a:t>
            </a:r>
          </a:p>
          <a:p>
            <a:pPr algn="l"/>
            <a:r>
              <a:rPr sz="2000" b="0">
                <a:solidFill>
                  <a:srgbClr val="1B2A3A"/>
                </a:solidFill>
                <a:latin typeface="Calibri"/>
              </a:rPr>
              <a:t>Tickets at 75 USD each. Headline sponsor confirmed at 25,000 USD.</a:t>
            </a:r>
          </a:p>
          <a:p>
            <a:pPr algn="l"/>
            <a:r>
              <a:rPr sz="2000" b="0">
                <a:solidFill>
                  <a:srgbClr val="1B2A3A"/>
                </a:solidFill>
                <a:latin typeface="Calibri"/>
              </a:rPr>
              <a:t>Three sponsors at 10,000 USD each will close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355B"/>
                </a:solidFill>
                <a:latin typeface="Calibri"/>
              </a:rPr>
              <a:t>Sponsor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7315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Amount (USD)</a:t>
                      </a:r>
                    </a:p>
                  </a:txBody>
                  <a:tcPr>
                    <a:solidFill>
                      <a:srgbClr val="2E6C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Recognition</a:t>
                      </a:r>
                    </a:p>
                  </a:txBody>
                  <a:tcPr>
                    <a:solidFill>
                      <a:srgbClr val="2E6CA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Headline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Stage naming, full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Spotlight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Program and signage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Stage 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Program listing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Friend of the 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2A3A"/>
                          </a:solidFill>
                        </a:rPr>
                        <a:t>Web and printed thanks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355B"/>
                </a:solidFill>
                <a:latin typeface="Calibri"/>
              </a:rPr>
              <a:t>Where Sponsor Dollars Go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371600"/>
          <a:ext cx="9966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Your Audience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37360"/>
            <a:ext cx="2377440" cy="2377440"/>
          </a:xfrm>
          <a:prstGeom prst="ellipse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FE3F5"/>
                </a:solidFill>
                <a:latin typeface="Calibri"/>
              </a:rPr>
              <a:t>young artists</a:t>
            </a:r>
          </a:p>
        </p:txBody>
      </p:sp>
      <p:sp>
        <p:nvSpPr>
          <p:cNvPr id="7" name="Oval 6"/>
          <p:cNvSpPr/>
          <p:nvPr/>
        </p:nvSpPr>
        <p:spPr>
          <a:xfrm>
            <a:off x="4480560" y="1737360"/>
            <a:ext cx="2377440" cy="2377440"/>
          </a:xfrm>
          <a:prstGeom prst="ellipse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297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FE3F5"/>
                </a:solidFill>
                <a:latin typeface="Calibri"/>
              </a:rPr>
              <a:t>staff and teaching artists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1737360"/>
            <a:ext cx="2377440" cy="2377440"/>
          </a:xfrm>
          <a:prstGeom prst="ellipse">
            <a:avLst/>
          </a:prstGeom>
          <a:solidFill>
            <a:srgbClr val="2E6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297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FE3F5"/>
                </a:solidFill>
                <a:latin typeface="Calibri"/>
              </a:rPr>
              <a:t>disciplines on stage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Let us put your name on the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F4FD"/>
                </a:solidFill>
                <a:latin typeface="Calibri"/>
              </a:rPr>
              <a:t>Andrew Santos  |  andrew.santos@Greenridertech.co  |  (313) 555 0186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