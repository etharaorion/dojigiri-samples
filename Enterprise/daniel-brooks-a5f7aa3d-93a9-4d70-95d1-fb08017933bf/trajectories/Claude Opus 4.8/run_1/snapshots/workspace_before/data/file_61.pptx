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c:v>
                </c:pt>
              </c:strCache>
            </c:strRef>
          </c:tx>
          <c:dPt>
            <c:idx val="0"/>
            <c:spPr>
              <a:solidFill>
                <a:srgbClr val="5B8DEF"/>
              </a:solidFill>
            </c:spPr>
          </c:dPt>
          <c:dPt>
            <c:idx val="1"/>
            <c:spPr>
              <a:solidFill>
                <a:srgbClr val="2F9E95"/>
              </a:solidFill>
            </c:spPr>
          </c:dPt>
          <c:dPt>
            <c:idx val="2"/>
            <c:spPr>
              <a:solidFill>
                <a:srgbClr val="D0A35C"/>
              </a:solidFill>
            </c:spPr>
          </c:dPt>
          <c:dPt>
            <c:idx val="3"/>
            <c:spPr>
              <a:solidFill>
                <a:srgbClr val="C05A76"/>
              </a:solidFill>
            </c:spPr>
          </c:dPt>
          <c:cat>
            <c:strRef>
              <c:f>Sheet1!$A$2:$A$5</c:f>
              <c:strCache>
                <c:ptCount val="4"/>
                <c:pt idx="0">
                  <c:v>Ticket revenue</c:v>
                </c:pt>
                <c:pt idx="1">
                  <c:v>Donations and gala</c:v>
                </c:pt>
                <c:pt idx="2">
                  <c:v>Grants</c:v>
                </c:pt>
                <c:pt idx="3">
                  <c:v>Other</c:v>
                </c:pt>
              </c:strCache>
            </c:strRef>
          </c:cat>
          <c:val>
            <c:numRef>
              <c:f>Sheet1!$B$2:$B$5</c:f>
              <c:numCache>
                <c:formatCode>General</c:formatCode>
                <c:ptCount val="4"/>
                <c:pt idx="0">
                  <c:v>40</c:v>
                </c:pt>
                <c:pt idx="1">
                  <c:v>35</c:v>
                </c:pt>
                <c:pt idx="2">
                  <c:v>15</c:v>
                </c:pt>
                <c:pt idx="3">
                  <c:v>10</c:v>
                </c:pt>
              </c:numCache>
            </c:numRef>
          </c:val>
        </c:ser>
        <c:dLbls>
          <c:numFmt formatCode="0%" sourceLinked="0"/>
          <c:txPr>
            <a:bodyPr/>
            <a:lstStyle/>
            <a:p>
              <a:pPr>
                <a:defRPr sz="1000">
                  <a:solidFill>
                    <a:srgbClr val="241A20"/>
                  </a:solidFill>
                  <a:latin typeface="Segoe UI"/>
                </a:defRPr>
              </a:pPr>
            </a:p>
          </c:txPr>
          <c:dLblPos val="outEnd"/>
          <c:showLegendKey val="0"/>
          <c:showVal val="0"/>
          <c:showCatName val="0"/>
          <c:showSerName val="0"/>
          <c:showPercent val="1"/>
          <c:showBubbleSize val="0"/>
          <c:showLeaderLines val="1"/>
        </c:dLbls>
      </c:pieChart>
    </c:plotArea>
    <c:legend>
      <c:legendPos/>
      <c:overlay val="0"/>
      <c:txPr>
        <a:bodyPr/>
        <a:lstStyle/>
        <a:p>
          <a:pPr>
            <a:defRPr sz="1100">
              <a:latin typeface="Segoe U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solidFill>
              <a:srgbClr val="6B7499"/>
            </a:solidFill>
          </c:spPr>
          <c:cat>
            <c:strRef>
              <c:f>Sheet1!$A$2:$A$7</c:f>
              <c:strCache>
                <c:ptCount val="6"/>
                <c:pt idx="0">
                  <c:v>Dancer and artistic</c:v>
                </c:pt>
                <c:pt idx="1">
                  <c:v>Administrative</c:v>
                </c:pt>
                <c:pt idx="2">
                  <c:v>Production</c:v>
                </c:pt>
                <c:pt idx="3">
                  <c:v>Facilities</c:v>
                </c:pt>
                <c:pt idx="4">
                  <c:v>Marketing</c:v>
                </c:pt>
                <c:pt idx="5">
                  <c:v>General and admin</c:v>
                </c:pt>
              </c:strCache>
            </c:strRef>
          </c:cat>
          <c:val>
            <c:numRef>
              <c:f>Sheet1!$B$2:$B$7</c:f>
              <c:numCache>
                <c:formatCode>General</c:formatCode>
                <c:ptCount val="6"/>
                <c:pt idx="0">
                  <c:v>2650000</c:v>
                </c:pt>
                <c:pt idx="1">
                  <c:v>1180000</c:v>
                </c:pt>
                <c:pt idx="2">
                  <c:v>980000</c:v>
                </c:pt>
                <c:pt idx="3">
                  <c:v>620000</c:v>
                </c:pt>
                <c:pt idx="4">
                  <c:v>540000</c:v>
                </c:pt>
                <c:pt idx="5">
                  <c:v>230000</c:v>
                </c:pt>
              </c:numCache>
            </c:numRef>
          </c:val>
        </c:ser>
        <c:dLbls>
          <c:numFmt formatCode="#,##0" sourceLinked="0"/>
          <c:txPr>
            <a:bodyPr/>
            <a:lstStyle/>
            <a:p>
              <a:pPr>
                <a:defRPr sz="1000">
                  <a:solidFill>
                    <a:srgbClr val="241A20"/>
                  </a:solidFill>
                  <a:latin typeface="Segoe U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Segoe U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v>
                </c:pt>
              </c:strCache>
            </c:strRef>
          </c:tx>
          <c:spPr>
            <a:ln w="31750">
              <a:solidFill>
                <a:srgbClr val="2F9E95"/>
              </a:solidFill>
            </a:ln>
          </c:spPr>
          <c:cat>
            <c:strRef>
              <c:f>Sheet1!$A$2:$A$7</c:f>
              <c:strCache>
                <c:ptCount val="6"/>
                <c:pt idx="0">
                  <c:v>Sep</c:v>
                </c:pt>
                <c:pt idx="1">
                  <c:v>Oct</c:v>
                </c:pt>
                <c:pt idx="2">
                  <c:v>Nov</c:v>
                </c:pt>
                <c:pt idx="3">
                  <c:v>Dec</c:v>
                </c:pt>
                <c:pt idx="4">
                  <c:v>Jan</c:v>
                </c:pt>
                <c:pt idx="5">
                  <c:v>Feb</c:v>
                </c:pt>
              </c:strCache>
            </c:strRef>
          </c:cat>
          <c:val>
            <c:numRef>
              <c:f>Sheet1!$B$2:$B$7</c:f>
              <c:numCache>
                <c:formatCode>General</c:formatCode>
                <c:ptCount val="6"/>
                <c:pt idx="0">
                  <c:v>180000</c:v>
                </c:pt>
                <c:pt idx="1">
                  <c:v>320000</c:v>
                </c:pt>
                <c:pt idx="2">
                  <c:v>260000</c:v>
                </c:pt>
                <c:pt idx="3">
                  <c:v>410000</c:v>
                </c:pt>
                <c:pt idx="4">
                  <c:v>150000</c:v>
                </c:pt>
                <c:pt idx="5">
                  <c:v>240000</c:v>
                </c:pt>
              </c:numCache>
            </c:numRef>
          </c:val>
          <c:smooth val="0"/>
        </c:ser>
        <c:dLbls>
          <c:numFmt formatCode="#,##0" sourceLinked="0"/>
          <c:txPr>
            <a:bodyPr/>
            <a:lstStyle/>
            <a:p>
              <a:pPr>
                <a:defRPr sz="900">
                  <a:latin typeface="Segoe U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Segoe UI"/>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000">
                <a:latin typeface="Segoe UI"/>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436815" cy="6858000"/>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g_a.jpg"/>
          <p:cNvPicPr>
            <a:picLocks noChangeAspect="1"/>
          </p:cNvPicPr>
          <p:nvPr/>
        </p:nvPicPr>
        <p:blipFill>
          <a:blip r:embed="rId2"/>
          <a:stretch>
            <a:fillRect/>
          </a:stretch>
        </p:blipFill>
        <p:spPr>
          <a:xfrm>
            <a:off x="7436815" y="0"/>
            <a:ext cx="4754880" cy="6858000"/>
          </a:xfrm>
          <a:prstGeom prst="rect">
            <a:avLst/>
          </a:prstGeom>
        </p:spPr>
      </p:pic>
      <p:sp>
        <p:nvSpPr>
          <p:cNvPr id="5" name="Rectangle 4"/>
          <p:cNvSpPr/>
          <p:nvPr/>
        </p:nvSpPr>
        <p:spPr>
          <a:xfrm>
            <a:off x="7381951" y="0"/>
            <a:ext cx="54864" cy="685800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6065215" cy="457200"/>
          </a:xfrm>
          <a:prstGeom prst="rect">
            <a:avLst/>
          </a:prstGeom>
          <a:noFill/>
        </p:spPr>
        <p:txBody>
          <a:bodyPr wrap="square" anchor="t">
            <a:spAutoFit/>
          </a:bodyPr>
          <a:lstStyle/>
          <a:p>
            <a:pPr algn="l">
              <a:spcBef>
                <a:spcPts val="0"/>
              </a:spcBef>
              <a:spcAft>
                <a:spcPts val="0"/>
              </a:spcAft>
            </a:pPr>
            <a:r>
              <a:rPr sz="1300" b="1">
                <a:solidFill>
                  <a:srgbClr val="B08A52"/>
                </a:solidFill>
                <a:latin typeface="Segoe UI"/>
              </a:rPr>
              <a:t>GULF COAST BALLET</a:t>
            </a:r>
          </a:p>
        </p:txBody>
      </p:sp>
      <p:sp>
        <p:nvSpPr>
          <p:cNvPr id="7" name="TextBox 6"/>
          <p:cNvSpPr txBox="1"/>
          <p:nvPr/>
        </p:nvSpPr>
        <p:spPr>
          <a:xfrm>
            <a:off x="777240" y="2057400"/>
            <a:ext cx="6248095" cy="2377440"/>
          </a:xfrm>
          <a:prstGeom prst="rect">
            <a:avLst/>
          </a:prstGeom>
          <a:noFill/>
        </p:spPr>
        <p:txBody>
          <a:bodyPr wrap="square" anchor="t">
            <a:spAutoFit/>
          </a:bodyPr>
          <a:lstStyle/>
          <a:p>
            <a:pPr algn="l">
              <a:spcBef>
                <a:spcPts val="0"/>
              </a:spcBef>
              <a:spcAft>
                <a:spcPts val="200"/>
              </a:spcAft>
            </a:pPr>
            <a:r>
              <a:rPr sz="4000" b="0">
                <a:solidFill>
                  <a:srgbClr val="FFFFFF"/>
                </a:solidFill>
                <a:latin typeface="Georgia"/>
              </a:rPr>
              <a:t>Quarterly</a:t>
            </a:r>
          </a:p>
          <a:p>
            <a:pPr algn="l">
              <a:spcBef>
                <a:spcPts val="0"/>
              </a:spcBef>
              <a:spcAft>
                <a:spcPts val="200"/>
              </a:spcAft>
            </a:pPr>
            <a:r>
              <a:rPr sz="4000" b="0">
                <a:solidFill>
                  <a:srgbClr val="FFFFFF"/>
                </a:solidFill>
                <a:latin typeface="Georgia"/>
              </a:rPr>
              <a:t>Board Review</a:t>
            </a:r>
          </a:p>
        </p:txBody>
      </p:sp>
      <p:sp>
        <p:nvSpPr>
          <p:cNvPr id="8" name="TextBox 7"/>
          <p:cNvSpPr txBox="1"/>
          <p:nvPr/>
        </p:nvSpPr>
        <p:spPr>
          <a:xfrm>
            <a:off x="777240" y="4572000"/>
            <a:ext cx="5973775" cy="1280160"/>
          </a:xfrm>
          <a:prstGeom prst="rect">
            <a:avLst/>
          </a:prstGeom>
          <a:noFill/>
        </p:spPr>
        <p:txBody>
          <a:bodyPr wrap="square" anchor="t">
            <a:spAutoFit/>
          </a:bodyPr>
          <a:lstStyle/>
          <a:p>
            <a:pPr algn="l">
              <a:spcBef>
                <a:spcPts val="0"/>
              </a:spcBef>
              <a:spcAft>
                <a:spcPts val="0"/>
              </a:spcAft>
            </a:pPr>
            <a:r>
              <a:rPr sz="1500" b="0">
                <a:solidFill>
                  <a:srgbClr val="E7DCD2"/>
                </a:solidFill>
                <a:latin typeface="Segoe UI"/>
              </a:rPr>
              <a:t>First quarter of the 2025 to 2026 season. Prepared for the board of directors.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THE QUARTER IN NUMBERS</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Where the Company Stands</a:t>
            </a:r>
          </a:p>
        </p:txBody>
      </p:sp>
      <p:sp>
        <p:nvSpPr>
          <p:cNvPr id="8" name="Rounded Rectangle 7"/>
          <p:cNvSpPr/>
          <p:nvPr/>
        </p:nvSpPr>
        <p:spPr>
          <a:xfrm>
            <a:off x="777240" y="1783080"/>
            <a:ext cx="2606040" cy="182880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92807"/>
            <a:ext cx="2331720"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OPERATING BUDGET</a:t>
            </a:r>
          </a:p>
        </p:txBody>
      </p:sp>
      <p:sp>
        <p:nvSpPr>
          <p:cNvPr id="10" name="TextBox 9"/>
          <p:cNvSpPr txBox="1"/>
          <p:nvPr/>
        </p:nvSpPr>
        <p:spPr>
          <a:xfrm>
            <a:off x="896112" y="2167128"/>
            <a:ext cx="236829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6.2M</a:t>
            </a:r>
          </a:p>
        </p:txBody>
      </p:sp>
      <p:sp>
        <p:nvSpPr>
          <p:cNvPr id="11" name="TextBox 10"/>
          <p:cNvSpPr txBox="1"/>
          <p:nvPr/>
        </p:nvSpPr>
        <p:spPr>
          <a:xfrm>
            <a:off x="914400" y="3154680"/>
            <a:ext cx="2331720"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On plan for the season</a:t>
            </a:r>
          </a:p>
        </p:txBody>
      </p:sp>
      <p:sp>
        <p:nvSpPr>
          <p:cNvPr id="12" name="Rounded Rectangle 11"/>
          <p:cNvSpPr/>
          <p:nvPr/>
        </p:nvSpPr>
        <p:spPr>
          <a:xfrm>
            <a:off x="3611880" y="1783080"/>
            <a:ext cx="2606040" cy="182880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1892807"/>
            <a:ext cx="2331720"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GALA RAISED</a:t>
            </a:r>
          </a:p>
        </p:txBody>
      </p:sp>
      <p:sp>
        <p:nvSpPr>
          <p:cNvPr id="14" name="TextBox 13"/>
          <p:cNvSpPr txBox="1"/>
          <p:nvPr/>
        </p:nvSpPr>
        <p:spPr>
          <a:xfrm>
            <a:off x="3730752" y="2167128"/>
            <a:ext cx="236829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452,000</a:t>
            </a:r>
          </a:p>
        </p:txBody>
      </p:sp>
      <p:sp>
        <p:nvSpPr>
          <p:cNvPr id="15" name="TextBox 14"/>
          <p:cNvSpPr txBox="1"/>
          <p:nvPr/>
        </p:nvSpPr>
        <p:spPr>
          <a:xfrm>
            <a:off x="3749040" y="3154680"/>
            <a:ext cx="2331720"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Goal of 450,000 met</a:t>
            </a:r>
          </a:p>
        </p:txBody>
      </p:sp>
      <p:sp>
        <p:nvSpPr>
          <p:cNvPr id="16" name="Rounded Rectangle 15"/>
          <p:cNvSpPr/>
          <p:nvPr/>
        </p:nvSpPr>
        <p:spPr>
          <a:xfrm>
            <a:off x="6446520" y="1783080"/>
            <a:ext cx="2606040" cy="182880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1892807"/>
            <a:ext cx="2331720"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SUBSCRIBERS</a:t>
            </a:r>
          </a:p>
        </p:txBody>
      </p:sp>
      <p:sp>
        <p:nvSpPr>
          <p:cNvPr id="18" name="TextBox 17"/>
          <p:cNvSpPr txBox="1"/>
          <p:nvPr/>
        </p:nvSpPr>
        <p:spPr>
          <a:xfrm>
            <a:off x="6565392" y="2167128"/>
            <a:ext cx="236829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3,184</a:t>
            </a:r>
          </a:p>
        </p:txBody>
      </p:sp>
      <p:sp>
        <p:nvSpPr>
          <p:cNvPr id="19" name="TextBox 18"/>
          <p:cNvSpPr txBox="1"/>
          <p:nvPr/>
        </p:nvSpPr>
        <p:spPr>
          <a:xfrm>
            <a:off x="6583680" y="3154680"/>
            <a:ext cx="2331720"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Up 6 percent</a:t>
            </a:r>
          </a:p>
        </p:txBody>
      </p:sp>
      <p:sp>
        <p:nvSpPr>
          <p:cNvPr id="20" name="Rounded Rectangle 19"/>
          <p:cNvSpPr/>
          <p:nvPr/>
        </p:nvSpPr>
        <p:spPr>
          <a:xfrm>
            <a:off x="9281160" y="1783080"/>
            <a:ext cx="2103120" cy="182880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1892807"/>
            <a:ext cx="1828799"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DONOR RETENTION</a:t>
            </a:r>
          </a:p>
        </p:txBody>
      </p:sp>
      <p:sp>
        <p:nvSpPr>
          <p:cNvPr id="22" name="TextBox 21"/>
          <p:cNvSpPr txBox="1"/>
          <p:nvPr/>
        </p:nvSpPr>
        <p:spPr>
          <a:xfrm>
            <a:off x="9400032" y="2167128"/>
            <a:ext cx="186537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78%</a:t>
            </a:r>
          </a:p>
        </p:txBody>
      </p:sp>
      <p:sp>
        <p:nvSpPr>
          <p:cNvPr id="23" name="TextBox 22"/>
          <p:cNvSpPr txBox="1"/>
          <p:nvPr/>
        </p:nvSpPr>
        <p:spPr>
          <a:xfrm>
            <a:off x="9418320" y="3154680"/>
            <a:ext cx="1828799"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Above benchmark</a:t>
            </a:r>
          </a:p>
        </p:txBody>
      </p:sp>
      <p:sp>
        <p:nvSpPr>
          <p:cNvPr id="24" name="TextBox 23"/>
          <p:cNvSpPr txBox="1"/>
          <p:nvPr/>
        </p:nvSpPr>
        <p:spPr>
          <a:xfrm>
            <a:off x="777240" y="4023360"/>
            <a:ext cx="10607040" cy="1280160"/>
          </a:xfrm>
          <a:prstGeom prst="rect">
            <a:avLst/>
          </a:prstGeom>
          <a:noFill/>
        </p:spPr>
        <p:txBody>
          <a:bodyPr wrap="square" anchor="t">
            <a:spAutoFit/>
          </a:bodyPr>
          <a:lstStyle/>
          <a:p>
            <a:pPr algn="l">
              <a:spcBef>
                <a:spcPts val="0"/>
              </a:spcBef>
              <a:spcAft>
                <a:spcPts val="0"/>
              </a:spcAft>
            </a:pPr>
            <a:r>
              <a:rPr sz="1400" b="0">
                <a:solidFill>
                  <a:srgbClr val="241A20"/>
                </a:solidFill>
                <a:latin typeface="Georgia"/>
              </a:rPr>
              <a:t>Ticket revenue is tracking to 63 percent of the annual target at the first quarter mark, led by a strong holiday run. Grants are fully committed except for one pending request of 75,000.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OPERATING REVENUE</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Revenue Mix, 6.2 Million</a:t>
            </a:r>
          </a:p>
        </p:txBody>
      </p:sp>
      <p:graphicFrame>
        <p:nvGraphicFramePr>
          <p:cNvPr id="8" name="Chart 7"/>
          <p:cNvGraphicFramePr>
            <a:graphicFrameLocks noGrp="1"/>
          </p:cNvGraphicFramePr>
          <p:nvPr/>
        </p:nvGraphicFramePr>
        <p:xfrm>
          <a:off x="640080" y="1783080"/>
          <a:ext cx="6583680" cy="4572000"/>
        </p:xfrm>
        <a:graphic>
          <a:graphicData uri="http://schemas.openxmlformats.org/drawingml/2006/chart">
            <c:chart xmlns:c="http://schemas.openxmlformats.org/drawingml/2006/chart" r:id="rId2"/>
          </a:graphicData>
        </a:graphic>
      </p:graphicFrame>
      <p:sp>
        <p:nvSpPr>
          <p:cNvPr id="9" name="TextBox 8"/>
          <p:cNvSpPr txBox="1"/>
          <p:nvPr/>
        </p:nvSpPr>
        <p:spPr>
          <a:xfrm>
            <a:off x="7589520" y="2194560"/>
            <a:ext cx="3931920" cy="3291840"/>
          </a:xfrm>
          <a:prstGeom prst="rect">
            <a:avLst/>
          </a:prstGeom>
          <a:noFill/>
        </p:spPr>
        <p:txBody>
          <a:bodyPr wrap="square" anchor="t">
            <a:spAutoFit/>
          </a:bodyPr>
          <a:lstStyle/>
          <a:p>
            <a:pPr algn="l">
              <a:spcBef>
                <a:spcPts val="0"/>
              </a:spcBef>
              <a:spcAft>
                <a:spcPts val="1000"/>
              </a:spcAft>
            </a:pPr>
            <a:r>
              <a:rPr sz="1600" b="1">
                <a:solidFill>
                  <a:srgbClr val="5E2336"/>
                </a:solidFill>
                <a:latin typeface="Segoe UI"/>
              </a:rPr>
              <a:t>A balanced base</a:t>
            </a:r>
          </a:p>
          <a:p>
            <a:pPr algn="l">
              <a:spcBef>
                <a:spcPts val="0"/>
              </a:spcBef>
              <a:spcAft>
                <a:spcPts val="0"/>
              </a:spcAft>
            </a:pPr>
            <a:r>
              <a:rPr sz="1300" b="0">
                <a:solidFill>
                  <a:srgbClr val="736A72"/>
                </a:solidFill>
                <a:latin typeface="Segoe UI"/>
              </a:rPr>
              <a:t>Earned ticket revenue and contributed income carry roughly equal weight. Grants and other income round out the budget. The board target is to hold earned revenue at or above 40 percent.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OPERATING EXPENSES</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Where the Budget Is Spent</a:t>
            </a:r>
          </a:p>
        </p:txBody>
      </p:sp>
      <p:graphicFrame>
        <p:nvGraphicFramePr>
          <p:cNvPr id="8" name="Chart 7"/>
          <p:cNvGraphicFramePr>
            <a:graphicFrameLocks noGrp="1"/>
          </p:cNvGraphicFramePr>
          <p:nvPr/>
        </p:nvGraphicFramePr>
        <p:xfrm>
          <a:off x="640080" y="1783080"/>
          <a:ext cx="109728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BOX OFFICE</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Monthly Ticket Revenue, Season to Date</a:t>
            </a:r>
          </a:p>
        </p:txBody>
      </p:sp>
      <p:graphicFrame>
        <p:nvGraphicFramePr>
          <p:cNvPr id="8" name="Chart 7"/>
          <p:cNvGraphicFramePr>
            <a:graphicFrameLocks noGrp="1"/>
          </p:cNvGraphicFramePr>
          <p:nvPr/>
        </p:nvGraphicFramePr>
        <p:xfrm>
          <a:off x="640080" y="1783080"/>
          <a:ext cx="109728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FACILITIES AND DECISIONS</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Open Items for the Board</a:t>
            </a:r>
          </a:p>
        </p:txBody>
      </p:sp>
      <p:sp>
        <p:nvSpPr>
          <p:cNvPr id="8" name="Rectangle 7"/>
          <p:cNvSpPr/>
          <p:nvPr/>
        </p:nvSpPr>
        <p:spPr>
          <a:xfrm>
            <a:off x="777240" y="1828800"/>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1051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Studio 3 sprung floor</a:t>
            </a:r>
          </a:p>
        </p:txBody>
      </p:sp>
      <p:sp>
        <p:nvSpPr>
          <p:cNvPr id="10" name="TextBox 9"/>
          <p:cNvSpPr txBox="1"/>
          <p:nvPr/>
        </p:nvSpPr>
        <p:spPr>
          <a:xfrm>
            <a:off x="1051560" y="219456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Warped section replaced and closed at 8,500 dollars. Back in full rehearsal use.</a:t>
            </a:r>
          </a:p>
        </p:txBody>
      </p:sp>
      <p:sp>
        <p:nvSpPr>
          <p:cNvPr id="11" name="Rectangle 10"/>
          <p:cNvSpPr/>
          <p:nvPr/>
        </p:nvSpPr>
        <p:spPr>
          <a:xfrm>
            <a:off x="777240" y="2880360"/>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6207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Principal contracts</a:t>
            </a:r>
          </a:p>
        </p:txBody>
      </p:sp>
      <p:sp>
        <p:nvSpPr>
          <p:cNvPr id="13" name="TextBox 12"/>
          <p:cNvSpPr txBox="1"/>
          <p:nvPr/>
        </p:nvSpPr>
        <p:spPr>
          <a:xfrm>
            <a:off x="1051560" y="324612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Three renewals for the new season, a combined increase of 15,000 dollars.</a:t>
            </a:r>
          </a:p>
        </p:txBody>
      </p:sp>
      <p:sp>
        <p:nvSpPr>
          <p:cNvPr id="14" name="Rectangle 13"/>
          <p:cNvSpPr/>
          <p:nvPr/>
        </p:nvSpPr>
        <p:spPr>
          <a:xfrm>
            <a:off x="777240" y="3931920"/>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91363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Pending grant</a:t>
            </a:r>
          </a:p>
        </p:txBody>
      </p:sp>
      <p:sp>
        <p:nvSpPr>
          <p:cNvPr id="16" name="TextBox 15"/>
          <p:cNvSpPr txBox="1"/>
          <p:nvPr/>
        </p:nvSpPr>
        <p:spPr>
          <a:xfrm>
            <a:off x="1051560" y="429768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A 75,000 dollar request for the new work, decision expected in October.</a:t>
            </a:r>
          </a:p>
        </p:txBody>
      </p:sp>
      <p:sp>
        <p:nvSpPr>
          <p:cNvPr id="17" name="Rectangle 16"/>
          <p:cNvSpPr/>
          <p:nvPr/>
        </p:nvSpPr>
        <p:spPr>
          <a:xfrm>
            <a:off x="777240" y="4983479"/>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96519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Shared venue schedule</a:t>
            </a:r>
          </a:p>
        </p:txBody>
      </p:sp>
      <p:sp>
        <p:nvSpPr>
          <p:cNvPr id="19" name="TextBox 18"/>
          <p:cNvSpPr txBox="1"/>
          <p:nvPr/>
        </p:nvSpPr>
        <p:spPr>
          <a:xfrm>
            <a:off x="1051560" y="534924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Coordination with Bayou City Opera confirmed through the spring.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