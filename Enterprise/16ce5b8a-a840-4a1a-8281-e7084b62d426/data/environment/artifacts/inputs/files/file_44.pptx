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chart>
    <c:autoTitleDeleted val="1"/>
    <c:plotArea>
      <c:pieChart>
        <c:varyColors val="1"/>
        <c:ser>
          <c:idx val="0"/>
          <c:order val="0"/>
          <c:tx>
            <c:strRef>
              <c:f>Sheet1!$B$1</c:f>
              <c:strCache>
                <c:ptCount val="1"/>
                <c:pt idx="0">
                  <c:v>Share of 850,000 USD budget</c:v>
                </c:pt>
              </c:strCache>
            </c:strRef>
          </c:tx>
          <c:dPt>
            <c:idx val="0"/>
            <c:spPr>
              <a:solidFill>
                <a:srgbClr val="B5651D"/>
              </a:solidFill>
            </c:spPr>
          </c:dPt>
          <c:dPt>
            <c:idx val="1"/>
            <c:spPr>
              <a:solidFill>
                <a:srgbClr val="6B7A3A"/>
              </a:solidFill>
            </c:spPr>
          </c:dPt>
          <c:dPt>
            <c:idx val="2"/>
            <c:spPr>
              <a:solidFill>
                <a:srgbClr val="5A3A1E"/>
              </a:solidFill>
            </c:spPr>
          </c:dPt>
          <c:dPt>
            <c:idx val="3"/>
            <c:spPr>
              <a:solidFill>
                <a:srgbClr val="C9A227"/>
              </a:solidFill>
            </c:spPr>
          </c:dPt>
          <c:cat>
            <c:strRef>
              <c:f>Sheet1!$A$2:$A$5</c:f>
              <c:strCache>
                <c:ptCount val="4"/>
                <c:pt idx="0">
                  <c:v>Grants</c:v>
                </c:pt>
                <c:pt idx="1">
                  <c:v>Individual donors</c:v>
                </c:pt>
                <c:pt idx="2">
                  <c:v>Events</c:v>
                </c:pt>
                <c:pt idx="3">
                  <c:v>Fees</c:v>
                </c:pt>
              </c:strCache>
            </c:strRef>
          </c:cat>
          <c:val>
            <c:numRef>
              <c:f>Sheet1!$B$2:$B$5</c:f>
              <c:numCache>
                <c:formatCode>General</c:formatCode>
                <c:ptCount val="4"/>
                <c:pt idx="0">
                  <c:v>60</c:v>
                </c:pt>
                <c:pt idx="1">
                  <c:v>20</c:v>
                </c:pt>
                <c:pt idx="2">
                  <c:v>15</c:v>
                </c:pt>
                <c:pt idx="3">
                  <c:v>5</c:v>
                </c:pt>
              </c:numCache>
            </c:numRef>
          </c:val>
        </c:ser>
        <c:dLbls>
          <c:txPr>
            <a:bodyPr/>
            <a:lstStyle/>
            <a:p>
              <a:pPr>
                <a:defRPr sz="1200">
                  <a:solidFill>
                    <a:srgbClr val="3A2A18"/>
                  </a:solidFill>
                </a:defRPr>
              </a:pPr>
            </a:p>
          </c:txPr>
          <c:showLegendKey val="0"/>
          <c:showVal val="1"/>
          <c:showCatName val="0"/>
          <c:showSerName val="0"/>
          <c:showPercent val="0"/>
          <c:showBubbleSize val="0"/>
          <c:showLeaderLines val="1"/>
        </c:dLbls>
      </c:pieChart>
    </c:plotArea>
    <c:legend>
      <c:legendPos val="b"/>
      <c:overlay val="0"/>
      <c:txPr>
        <a:bodyPr/>
        <a:lstStyle/>
        <a:p>
          <a:pPr>
            <a:defRPr sz="1100">
              <a:solidFill>
                <a:srgbClr val="3A2A18"/>
              </a:solidFill>
            </a:defRPr>
          </a:pPr>
        </a:p>
      </c:txPr>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Region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Region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Region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Region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Region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Region 5"/>
          <p:cNvSpPr>
            <a:spLocks noGrp="1"/>
          </p:cNvSpPr>
          <p:nvPr>
            <p:ph type="ftr" sz="quarter" idx="11"/>
          </p:nvPr>
        </p:nvSpPr>
        <p:spPr/>
        <p:txBody>
          <a:bodyPr/>
          <a:lstStyle/>
          <a:p>
            <a:endParaRPr lang="en-US"/>
          </a:p>
        </p:txBody>
      </p:sp>
      <p:sp>
        <p:nvSpPr>
          <p:cNvPr id="7" name="Slide Number Region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Region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Region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Region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Region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Region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Region 7"/>
          <p:cNvSpPr>
            <a:spLocks noGrp="1"/>
          </p:cNvSpPr>
          <p:nvPr>
            <p:ph type="ftr" sz="quarter" idx="11"/>
          </p:nvPr>
        </p:nvSpPr>
        <p:spPr/>
        <p:txBody>
          <a:bodyPr/>
          <a:lstStyle/>
          <a:p>
            <a:endParaRPr lang="en-US"/>
          </a:p>
        </p:txBody>
      </p:sp>
      <p:sp>
        <p:nvSpPr>
          <p:cNvPr id="9" name="Slide Number Region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Region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Region 3"/>
          <p:cNvSpPr>
            <a:spLocks noGrp="1"/>
          </p:cNvSpPr>
          <p:nvPr>
            <p:ph type="ftr" sz="quarter" idx="11"/>
          </p:nvPr>
        </p:nvSpPr>
        <p:spPr/>
        <p:txBody>
          <a:bodyPr/>
          <a:lstStyle/>
          <a:p>
            <a:endParaRPr lang="en-US"/>
          </a:p>
        </p:txBody>
      </p:sp>
      <p:sp>
        <p:nvSpPr>
          <p:cNvPr id="5" name="Slide Number Region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Region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Region 2"/>
          <p:cNvSpPr>
            <a:spLocks noGrp="1"/>
          </p:cNvSpPr>
          <p:nvPr>
            <p:ph type="ftr" sz="quarter" idx="11"/>
          </p:nvPr>
        </p:nvSpPr>
        <p:spPr/>
        <p:txBody>
          <a:bodyPr/>
          <a:lstStyle/>
          <a:p>
            <a:endParaRPr lang="en-US"/>
          </a:p>
        </p:txBody>
      </p:sp>
      <p:sp>
        <p:nvSpPr>
          <p:cNvPr id="4" name="Slide Number Region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Region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Region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Region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Region 5"/>
          <p:cNvSpPr>
            <a:spLocks noGrp="1"/>
          </p:cNvSpPr>
          <p:nvPr>
            <p:ph type="ftr" sz="quarter" idx="11"/>
          </p:nvPr>
        </p:nvSpPr>
        <p:spPr/>
        <p:txBody>
          <a:bodyPr/>
          <a:lstStyle/>
          <a:p>
            <a:endParaRPr lang="en-US"/>
          </a:p>
        </p:txBody>
      </p:sp>
      <p:sp>
        <p:nvSpPr>
          <p:cNvPr id="7" name="Slide Number Region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Regio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Region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Region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Region 5"/>
          <p:cNvSpPr>
            <a:spLocks noGrp="1"/>
          </p:cNvSpPr>
          <p:nvPr>
            <p:ph type="ftr" sz="quarter" idx="11"/>
          </p:nvPr>
        </p:nvSpPr>
        <p:spPr/>
        <p:txBody>
          <a:bodyPr/>
          <a:lstStyle/>
          <a:p>
            <a:endParaRPr lang="en-US"/>
          </a:p>
        </p:txBody>
      </p:sp>
      <p:sp>
        <p:nvSpPr>
          <p:cNvPr id="7" name="Slide Number Region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Region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Region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Region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Region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Region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Region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Region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237744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424160" y="457200"/>
            <a:ext cx="1188720" cy="1188720"/>
          </a:xfrm>
          <a:prstGeom prst="ellipse">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57200" y="5669280"/>
            <a:ext cx="868680" cy="868680"/>
          </a:xfrm>
          <a:prstGeom prst="ellipse">
            <a:avLst/>
          </a:prstGeom>
          <a:solidFill>
            <a:srgbClr val="5A3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468880"/>
            <a:ext cx="10058400" cy="1280160"/>
          </a:xfrm>
          <a:prstGeom prst="rect">
            <a:avLst/>
          </a:prstGeom>
          <a:noFill/>
        </p:spPr>
        <p:txBody>
          <a:bodyPr wrap="square" anchor="t">
            <a:spAutoFit/>
          </a:bodyPr>
          <a:lstStyle/>
          <a:p>
            <a:pPr algn="l"/>
            <a:r>
              <a:rPr sz="4400" b="1">
                <a:solidFill>
                  <a:srgbClr val="FFFFFF"/>
                </a:solidFill>
                <a:latin typeface="Georgia"/>
              </a:rPr>
              <a:t>Quarterly Board Briefing</a:t>
            </a:r>
          </a:p>
        </p:txBody>
      </p:sp>
      <p:sp>
        <p:nvSpPr>
          <p:cNvPr id="7" name="TextBox 6"/>
          <p:cNvSpPr txBox="1"/>
          <p:nvPr/>
        </p:nvSpPr>
        <p:spPr>
          <a:xfrm>
            <a:off x="868680" y="3657600"/>
            <a:ext cx="10058400" cy="548640"/>
          </a:xfrm>
          <a:prstGeom prst="rect">
            <a:avLst/>
          </a:prstGeom>
          <a:noFill/>
        </p:spPr>
        <p:txBody>
          <a:bodyPr wrap="square" anchor="t">
            <a:spAutoFit/>
          </a:bodyPr>
          <a:lstStyle/>
          <a:p>
            <a:pPr algn="l"/>
            <a:r>
              <a:rPr sz="1800" b="0">
                <a:solidFill>
                  <a:srgbClr val="FFF3E2"/>
                </a:solidFill>
                <a:latin typeface="Georgia"/>
              </a:rPr>
              <a:t>Detroit Youth Arts Alliance  |  Prepared by Andrew Santos, Executive Director</a:t>
            </a:r>
          </a:p>
        </p:txBody>
      </p:sp>
      <p:sp>
        <p:nvSpPr>
          <p:cNvPr id="8" name="TextBox 7"/>
          <p:cNvSpPr txBox="1"/>
          <p:nvPr/>
        </p:nvSpPr>
        <p:spPr>
          <a:xfrm>
            <a:off x="1554480" y="5669280"/>
            <a:ext cx="9418320" cy="868680"/>
          </a:xfrm>
          <a:prstGeom prst="rect">
            <a:avLst/>
          </a:prstGeom>
          <a:noFill/>
        </p:spPr>
        <p:txBody>
          <a:bodyPr wrap="square" anchor="ctr">
            <a:spAutoFit/>
          </a:bodyPr>
          <a:lstStyle/>
          <a:p>
            <a:pPr algn="l"/>
            <a:r>
              <a:rPr sz="1400" b="0">
                <a:solidFill>
                  <a:srgbClr val="5A3A1E"/>
                </a:solidFill>
                <a:latin typeface="Calibri"/>
              </a:rPr>
              <a:t>Cass Avenue, Midtown Detroit  |  February 10,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058400" cy="731520"/>
          </a:xfrm>
          <a:prstGeom prst="rect">
            <a:avLst/>
          </a:prstGeom>
          <a:noFill/>
        </p:spPr>
        <p:txBody>
          <a:bodyPr wrap="square" anchor="t">
            <a:spAutoFit/>
          </a:bodyPr>
          <a:lstStyle/>
          <a:p>
            <a:pPr algn="l"/>
            <a:r>
              <a:rPr sz="3400" b="1">
                <a:solidFill>
                  <a:srgbClr val="5A3A1E"/>
                </a:solidFill>
                <a:latin typeface="Georgia"/>
              </a:rPr>
              <a:t>Agenda</a:t>
            </a:r>
          </a:p>
        </p:txBody>
      </p:sp>
      <p:sp>
        <p:nvSpPr>
          <p:cNvPr id="5" name="TextBox 4"/>
          <p:cNvSpPr txBox="1"/>
          <p:nvPr/>
        </p:nvSpPr>
        <p:spPr>
          <a:xfrm>
            <a:off x="914400" y="1554480"/>
            <a:ext cx="10058400" cy="4114800"/>
          </a:xfrm>
          <a:prstGeom prst="rect">
            <a:avLst/>
          </a:prstGeom>
          <a:noFill/>
        </p:spPr>
        <p:txBody>
          <a:bodyPr wrap="square" anchor="t">
            <a:spAutoFit/>
          </a:bodyPr>
          <a:lstStyle/>
          <a:p>
            <a:pPr algn="l"/>
            <a:r>
              <a:rPr sz="2200" b="0">
                <a:solidFill>
                  <a:srgbClr val="3A2A18"/>
                </a:solidFill>
                <a:latin typeface="Calibri"/>
              </a:rPr>
              <a:t>1.  Mission and program reach</a:t>
            </a:r>
          </a:p>
          <a:p>
            <a:pPr algn="l"/>
            <a:r>
              <a:rPr sz="2200" b="0">
                <a:solidFill>
                  <a:srgbClr val="3A2A18"/>
                </a:solidFill>
                <a:latin typeface="Calibri"/>
              </a:rPr>
              <a:t>2.  Operating budget snapshot</a:t>
            </a:r>
          </a:p>
          <a:p>
            <a:pPr algn="l"/>
            <a:r>
              <a:rPr sz="2200" b="0">
                <a:solidFill>
                  <a:srgbClr val="3A2A18"/>
                </a:solidFill>
                <a:latin typeface="Calibri"/>
              </a:rPr>
              <a:t>3.  Showcase fundraising progress</a:t>
            </a:r>
          </a:p>
          <a:p>
            <a:pPr algn="l"/>
            <a:r>
              <a:rPr sz="2200" b="0">
                <a:solidFill>
                  <a:srgbClr val="3A2A18"/>
                </a:solidFill>
                <a:latin typeface="Calibri"/>
              </a:rPr>
              <a:t>4.  West side second facility</a:t>
            </a:r>
          </a:p>
          <a:p>
            <a:pPr algn="l"/>
            <a:r>
              <a:rPr sz="2200" b="0">
                <a:solidFill>
                  <a:srgbClr val="3A2A18"/>
                </a:solidFill>
                <a:latin typeface="Calibri"/>
              </a:rPr>
              <a:t>5.  Grant pipeline and asks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05840"/>
          </a:xfrm>
          <a:prstGeom prst="rect">
            <a:avLst/>
          </a:prstGeom>
          <a:solidFill>
            <a:srgbClr val="6B7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0972800" cy="640080"/>
          </a:xfrm>
          <a:prstGeom prst="rect">
            <a:avLst/>
          </a:prstGeom>
          <a:noFill/>
        </p:spPr>
        <p:txBody>
          <a:bodyPr wrap="square" anchor="t">
            <a:spAutoFit/>
          </a:bodyPr>
          <a:lstStyle/>
          <a:p>
            <a:pPr algn="l"/>
            <a:r>
              <a:rPr sz="3000" b="1">
                <a:solidFill>
                  <a:srgbClr val="FFFFFF"/>
                </a:solidFill>
                <a:latin typeface="Georgia"/>
              </a:rPr>
              <a:t>Program Reach</a:t>
            </a:r>
          </a:p>
        </p:txBody>
      </p:sp>
      <p:sp>
        <p:nvSpPr>
          <p:cNvPr id="5" name="Rectangle 4"/>
          <p:cNvSpPr/>
          <p:nvPr/>
        </p:nvSpPr>
        <p:spPr>
          <a:xfrm>
            <a:off x="548640" y="1645920"/>
            <a:ext cx="2468880" cy="219456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2468880" cy="914400"/>
          </a:xfrm>
          <a:prstGeom prst="rect">
            <a:avLst/>
          </a:prstGeom>
          <a:noFill/>
        </p:spPr>
        <p:txBody>
          <a:bodyPr wrap="square" anchor="t">
            <a:spAutoFit/>
          </a:bodyPr>
          <a:lstStyle/>
          <a:p>
            <a:pPr algn="ctr"/>
            <a:r>
              <a:rPr sz="4000" b="1">
                <a:solidFill>
                  <a:srgbClr val="B5651D"/>
                </a:solidFill>
                <a:latin typeface="Calibri"/>
              </a:rPr>
              <a:t>400+</a:t>
            </a:r>
          </a:p>
        </p:txBody>
      </p:sp>
      <p:sp>
        <p:nvSpPr>
          <p:cNvPr id="7" name="TextBox 6"/>
          <p:cNvSpPr txBox="1"/>
          <p:nvPr/>
        </p:nvSpPr>
        <p:spPr>
          <a:xfrm>
            <a:off x="548640" y="2926080"/>
            <a:ext cx="2468880" cy="822960"/>
          </a:xfrm>
          <a:prstGeom prst="rect">
            <a:avLst/>
          </a:prstGeom>
          <a:noFill/>
        </p:spPr>
        <p:txBody>
          <a:bodyPr wrap="square" anchor="t">
            <a:spAutoFit/>
          </a:bodyPr>
          <a:lstStyle/>
          <a:p>
            <a:pPr algn="ctr"/>
            <a:r>
              <a:rPr sz="1500" b="0">
                <a:solidFill>
                  <a:srgbClr val="3A2A18"/>
                </a:solidFill>
                <a:latin typeface="Calibri"/>
              </a:rPr>
              <a:t>Youth served yearly</a:t>
            </a:r>
          </a:p>
        </p:txBody>
      </p:sp>
      <p:sp>
        <p:nvSpPr>
          <p:cNvPr id="8" name="Rectangle 7"/>
          <p:cNvSpPr/>
          <p:nvPr/>
        </p:nvSpPr>
        <p:spPr>
          <a:xfrm>
            <a:off x="3337560" y="1645920"/>
            <a:ext cx="2468880" cy="219456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37560" y="1920240"/>
            <a:ext cx="2468880" cy="914400"/>
          </a:xfrm>
          <a:prstGeom prst="rect">
            <a:avLst/>
          </a:prstGeom>
          <a:noFill/>
        </p:spPr>
        <p:txBody>
          <a:bodyPr wrap="square" anchor="t">
            <a:spAutoFit/>
          </a:bodyPr>
          <a:lstStyle/>
          <a:p>
            <a:pPr algn="ctr"/>
            <a:r>
              <a:rPr sz="4000" b="1">
                <a:solidFill>
                  <a:srgbClr val="B5651D"/>
                </a:solidFill>
                <a:latin typeface="Calibri"/>
              </a:rPr>
              <a:t>5</a:t>
            </a:r>
          </a:p>
        </p:txBody>
      </p:sp>
      <p:sp>
        <p:nvSpPr>
          <p:cNvPr id="10" name="TextBox 9"/>
          <p:cNvSpPr txBox="1"/>
          <p:nvPr/>
        </p:nvSpPr>
        <p:spPr>
          <a:xfrm>
            <a:off x="3337560" y="2926080"/>
            <a:ext cx="2468880" cy="822960"/>
          </a:xfrm>
          <a:prstGeom prst="rect">
            <a:avLst/>
          </a:prstGeom>
          <a:noFill/>
        </p:spPr>
        <p:txBody>
          <a:bodyPr wrap="square" anchor="t">
            <a:spAutoFit/>
          </a:bodyPr>
          <a:lstStyle/>
          <a:p>
            <a:pPr algn="ctr"/>
            <a:r>
              <a:rPr sz="1500" b="0">
                <a:solidFill>
                  <a:srgbClr val="3A2A18"/>
                </a:solidFill>
                <a:latin typeface="Calibri"/>
              </a:rPr>
              <a:t>Art disciplines</a:t>
            </a:r>
          </a:p>
        </p:txBody>
      </p:sp>
      <p:sp>
        <p:nvSpPr>
          <p:cNvPr id="11" name="Rectangle 10"/>
          <p:cNvSpPr/>
          <p:nvPr/>
        </p:nvSpPr>
        <p:spPr>
          <a:xfrm>
            <a:off x="6126479" y="1645920"/>
            <a:ext cx="2468880" cy="219456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26479" y="1920240"/>
            <a:ext cx="2468880" cy="914400"/>
          </a:xfrm>
          <a:prstGeom prst="rect">
            <a:avLst/>
          </a:prstGeom>
          <a:noFill/>
        </p:spPr>
        <p:txBody>
          <a:bodyPr wrap="square" anchor="t">
            <a:spAutoFit/>
          </a:bodyPr>
          <a:lstStyle/>
          <a:p>
            <a:pPr algn="ctr"/>
            <a:r>
              <a:rPr sz="4000" b="1">
                <a:solidFill>
                  <a:srgbClr val="B5651D"/>
                </a:solidFill>
                <a:latin typeface="Calibri"/>
              </a:rPr>
              <a:t>14</a:t>
            </a:r>
          </a:p>
        </p:txBody>
      </p:sp>
      <p:sp>
        <p:nvSpPr>
          <p:cNvPr id="13" name="TextBox 12"/>
          <p:cNvSpPr txBox="1"/>
          <p:nvPr/>
        </p:nvSpPr>
        <p:spPr>
          <a:xfrm>
            <a:off x="6126479" y="2926080"/>
            <a:ext cx="2468880" cy="822960"/>
          </a:xfrm>
          <a:prstGeom prst="rect">
            <a:avLst/>
          </a:prstGeom>
          <a:noFill/>
        </p:spPr>
        <p:txBody>
          <a:bodyPr wrap="square" anchor="t">
            <a:spAutoFit/>
          </a:bodyPr>
          <a:lstStyle/>
          <a:p>
            <a:pPr algn="ctr"/>
            <a:r>
              <a:rPr sz="1500" b="0">
                <a:solidFill>
                  <a:srgbClr val="3A2A18"/>
                </a:solidFill>
                <a:latin typeface="Calibri"/>
              </a:rPr>
              <a:t>Full-time staff</a:t>
            </a:r>
          </a:p>
        </p:txBody>
      </p:sp>
      <p:sp>
        <p:nvSpPr>
          <p:cNvPr id="14" name="Rectangle 13"/>
          <p:cNvSpPr/>
          <p:nvPr/>
        </p:nvSpPr>
        <p:spPr>
          <a:xfrm>
            <a:off x="8915399" y="1645920"/>
            <a:ext cx="2468880" cy="219456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15399" y="1920240"/>
            <a:ext cx="2468880" cy="914400"/>
          </a:xfrm>
          <a:prstGeom prst="rect">
            <a:avLst/>
          </a:prstGeom>
          <a:noFill/>
        </p:spPr>
        <p:txBody>
          <a:bodyPr wrap="square" anchor="t">
            <a:spAutoFit/>
          </a:bodyPr>
          <a:lstStyle/>
          <a:p>
            <a:pPr algn="ctr"/>
            <a:r>
              <a:rPr sz="4000" b="1">
                <a:solidFill>
                  <a:srgbClr val="B5651D"/>
                </a:solidFill>
                <a:latin typeface="Calibri"/>
              </a:rPr>
              <a:t>2</a:t>
            </a:r>
          </a:p>
        </p:txBody>
      </p:sp>
      <p:sp>
        <p:nvSpPr>
          <p:cNvPr id="16" name="TextBox 15"/>
          <p:cNvSpPr txBox="1"/>
          <p:nvPr/>
        </p:nvSpPr>
        <p:spPr>
          <a:xfrm>
            <a:off x="8915399" y="2926080"/>
            <a:ext cx="2468880" cy="822960"/>
          </a:xfrm>
          <a:prstGeom prst="rect">
            <a:avLst/>
          </a:prstGeom>
          <a:noFill/>
        </p:spPr>
        <p:txBody>
          <a:bodyPr wrap="square" anchor="t">
            <a:spAutoFit/>
          </a:bodyPr>
          <a:lstStyle/>
          <a:p>
            <a:pPr algn="ctr"/>
            <a:r>
              <a:rPr sz="1500" b="0">
                <a:solidFill>
                  <a:srgbClr val="3A2A18"/>
                </a:solidFill>
                <a:latin typeface="Calibri"/>
              </a:rPr>
              <a:t>Program sites</a:t>
            </a:r>
          </a:p>
        </p:txBody>
      </p:sp>
      <p:sp>
        <p:nvSpPr>
          <p:cNvPr id="17" name="TextBox 16"/>
          <p:cNvSpPr txBox="1"/>
          <p:nvPr/>
        </p:nvSpPr>
        <p:spPr>
          <a:xfrm>
            <a:off x="548640" y="4297680"/>
            <a:ext cx="10972800" cy="1371600"/>
          </a:xfrm>
          <a:prstGeom prst="rect">
            <a:avLst/>
          </a:prstGeom>
          <a:noFill/>
        </p:spPr>
        <p:txBody>
          <a:bodyPr wrap="square" anchor="t">
            <a:spAutoFit/>
          </a:bodyPr>
          <a:lstStyle/>
          <a:p>
            <a:pPr algn="l"/>
            <a:r>
              <a:rPr sz="1800" b="0">
                <a:solidFill>
                  <a:srgbClr val="3A2A18"/>
                </a:solidFill>
                <a:latin typeface="Calibri"/>
              </a:rPr>
              <a:t>Serving young people ages 10 to 18, primarily from underserved Detroit neighborhoods, after-school and through the summer.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nchor="t">
            <a:spAutoFit/>
          </a:bodyPr>
          <a:lstStyle/>
          <a:p>
            <a:pPr algn="l"/>
            <a:r>
              <a:rPr sz="3000" b="1">
                <a:solidFill>
                  <a:srgbClr val="5A3A1E"/>
                </a:solidFill>
                <a:latin typeface="Georgia"/>
              </a:rPr>
              <a:t>Operating Revenue Mix</a:t>
            </a:r>
          </a:p>
        </p:txBody>
      </p:sp>
      <p:graphicFrame>
        <p:nvGraphicFramePr>
          <p:cNvPr id="4" name="Chart 3"/>
          <p:cNvGraphicFramePr>
            <a:graphicFrameLocks noGrp="1"/>
          </p:cNvGraphicFramePr>
          <p:nvPr/>
        </p:nvGraphicFramePr>
        <p:xfrm>
          <a:off x="2011680" y="1280160"/>
          <a:ext cx="7772400" cy="493776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731520"/>
          </a:xfrm>
          <a:prstGeom prst="rect">
            <a:avLst/>
          </a:prstGeom>
          <a:noFill/>
        </p:spPr>
        <p:txBody>
          <a:bodyPr wrap="square" anchor="t">
            <a:spAutoFit/>
          </a:bodyPr>
          <a:lstStyle/>
          <a:p>
            <a:pPr algn="l"/>
            <a:r>
              <a:rPr sz="3000" b="1">
                <a:solidFill>
                  <a:srgbClr val="5A3A1E"/>
                </a:solidFill>
                <a:latin typeface="Georgia"/>
              </a:rPr>
              <a:t>Showcase Fundraising</a:t>
            </a:r>
          </a:p>
        </p:txBody>
      </p:sp>
      <p:graphicFrame>
        <p:nvGraphicFramePr>
          <p:cNvPr id="4" name="Table 3"/>
          <p:cNvGraphicFramePr>
            <a:graphicFrameLocks noGrp="1"/>
          </p:cNvGraphicFramePr>
          <p:nvPr/>
        </p:nvGraphicFramePr>
        <p:xfrm>
          <a:off x="1097280" y="1463040"/>
          <a:ext cx="9966960" cy="3657600"/>
        </p:xfrm>
        <a:graphic>
          <a:graphicData uri="http://schemas.openxmlformats.org/drawingml/2006/table">
            <a:tbl>
              <a:tblPr firstRow="1" bandRow="1">
                <a:tableStyleId>{5C22544A-7EE6-4342-B048-85BDC9FD1C3A}</a:tableStyleId>
              </a:tblPr>
              <a:tblGrid>
                <a:gridCol w="3322320"/>
                <a:gridCol w="3322320"/>
                <a:gridCol w="3322320"/>
              </a:tblGrid>
              <a:tr h="609600">
                <a:tc>
                  <a:txBody>
                    <a:bodyPr/>
                    <a:lstStyle/>
                    <a:p>
                      <a:r>
                        <a:rPr b="1" sz="1400">
                          <a:solidFill>
                            <a:srgbClr val="FFFFFF"/>
                          </a:solidFill>
                        </a:rPr>
                        <a:t>Line</a:t>
                      </a:r>
                    </a:p>
                  </a:txBody>
                  <a:tcPr>
                    <a:solidFill>
                      <a:srgbClr val="B5651D"/>
                    </a:solidFill>
                  </a:tcPr>
                </a:tc>
                <a:tc>
                  <a:txBody>
                    <a:bodyPr/>
                    <a:lstStyle/>
                    <a:p>
                      <a:r>
                        <a:rPr b="1" sz="1400">
                          <a:solidFill>
                            <a:srgbClr val="FFFFFF"/>
                          </a:solidFill>
                        </a:rPr>
                        <a:t>Amount (USD)</a:t>
                      </a:r>
                    </a:p>
                  </a:txBody>
                  <a:tcPr>
                    <a:solidFill>
                      <a:srgbClr val="B5651D"/>
                    </a:solidFill>
                  </a:tcPr>
                </a:tc>
                <a:tc>
                  <a:txBody>
                    <a:bodyPr/>
                    <a:lstStyle/>
                    <a:p>
                      <a:r>
                        <a:rPr b="1" sz="1400">
                          <a:solidFill>
                            <a:srgbClr val="FFFFFF"/>
                          </a:solidFill>
                        </a:rPr>
                        <a:t>Status</a:t>
                      </a:r>
                    </a:p>
                  </a:txBody>
                  <a:tcPr>
                    <a:solidFill>
                      <a:srgbClr val="B5651D"/>
                    </a:solidFill>
                  </a:tcPr>
                </a:tc>
              </a:tr>
              <a:tr h="609600">
                <a:tc>
                  <a:txBody>
                    <a:bodyPr/>
                    <a:lstStyle/>
                    <a:p>
                      <a:r>
                        <a:rPr sz="1400">
                          <a:solidFill>
                            <a:srgbClr val="3A2A18"/>
                          </a:solidFill>
                        </a:rPr>
                        <a:t>Goal</a:t>
                      </a:r>
                    </a:p>
                  </a:txBody>
                  <a:tcPr>
                    <a:solidFill>
                      <a:srgbClr val="FFFDF8"/>
                    </a:solidFill>
                  </a:tcPr>
                </a:tc>
                <a:tc>
                  <a:txBody>
                    <a:bodyPr/>
                    <a:lstStyle/>
                    <a:p>
                      <a:r>
                        <a:rPr sz="1400">
                          <a:solidFill>
                            <a:srgbClr val="3A2A18"/>
                          </a:solidFill>
                        </a:rPr>
                        <a:t>120,000</a:t>
                      </a:r>
                    </a:p>
                  </a:txBody>
                  <a:tcPr>
                    <a:solidFill>
                      <a:srgbClr val="FFFDF8"/>
                    </a:solidFill>
                  </a:tcPr>
                </a:tc>
                <a:tc>
                  <a:txBody>
                    <a:bodyPr/>
                    <a:lstStyle/>
                    <a:p>
                      <a:r>
                        <a:rPr sz="1400">
                          <a:solidFill>
                            <a:srgbClr val="3A2A18"/>
                          </a:solidFill>
                        </a:rPr>
                        <a:t>Tracking</a:t>
                      </a:r>
                    </a:p>
                  </a:txBody>
                  <a:tcPr>
                    <a:solidFill>
                      <a:srgbClr val="FFFDF8"/>
                    </a:solidFill>
                  </a:tcPr>
                </a:tc>
              </a:tr>
              <a:tr h="609600">
                <a:tc>
                  <a:txBody>
                    <a:bodyPr/>
                    <a:lstStyle/>
                    <a:p>
                      <a:r>
                        <a:rPr sz="1400">
                          <a:solidFill>
                            <a:srgbClr val="3A2A18"/>
                          </a:solidFill>
                        </a:rPr>
                        <a:t>Headline sponsor</a:t>
                      </a:r>
                    </a:p>
                  </a:txBody>
                  <a:tcPr>
                    <a:solidFill>
                      <a:srgbClr val="FFFDF8"/>
                    </a:solidFill>
                  </a:tcPr>
                </a:tc>
                <a:tc>
                  <a:txBody>
                    <a:bodyPr/>
                    <a:lstStyle/>
                    <a:p>
                      <a:r>
                        <a:rPr sz="1400">
                          <a:solidFill>
                            <a:srgbClr val="3A2A18"/>
                          </a:solidFill>
                        </a:rPr>
                        <a:t>25,000</a:t>
                      </a:r>
                    </a:p>
                  </a:txBody>
                  <a:tcPr>
                    <a:solidFill>
                      <a:srgbClr val="FFFDF8"/>
                    </a:solidFill>
                  </a:tcPr>
                </a:tc>
                <a:tc>
                  <a:txBody>
                    <a:bodyPr/>
                    <a:lstStyle/>
                    <a:p>
                      <a:r>
                        <a:rPr sz="1400">
                          <a:solidFill>
                            <a:srgbClr val="3A2A18"/>
                          </a:solidFill>
                        </a:rPr>
                        <a:t>Confirmed</a:t>
                      </a:r>
                    </a:p>
                  </a:txBody>
                  <a:tcPr>
                    <a:solidFill>
                      <a:srgbClr val="FFFDF8"/>
                    </a:solidFill>
                  </a:tcPr>
                </a:tc>
              </a:tr>
              <a:tr h="609600">
                <a:tc>
                  <a:txBody>
                    <a:bodyPr/>
                    <a:lstStyle/>
                    <a:p>
                      <a:r>
                        <a:rPr sz="1400">
                          <a:solidFill>
                            <a:srgbClr val="3A2A18"/>
                          </a:solidFill>
                        </a:rPr>
                        <a:t>Sponsors needed</a:t>
                      </a:r>
                    </a:p>
                  </a:txBody>
                  <a:tcPr>
                    <a:solidFill>
                      <a:srgbClr val="FFFDF8"/>
                    </a:solidFill>
                  </a:tcPr>
                </a:tc>
                <a:tc>
                  <a:txBody>
                    <a:bodyPr/>
                    <a:lstStyle/>
                    <a:p>
                      <a:r>
                        <a:rPr sz="1400">
                          <a:solidFill>
                            <a:srgbClr val="3A2A18"/>
                          </a:solidFill>
                        </a:rPr>
                        <a:t>30,000</a:t>
                      </a:r>
                    </a:p>
                  </a:txBody>
                  <a:tcPr>
                    <a:solidFill>
                      <a:srgbClr val="FFFDF8"/>
                    </a:solidFill>
                  </a:tcPr>
                </a:tc>
                <a:tc>
                  <a:txBody>
                    <a:bodyPr/>
                    <a:lstStyle/>
                    <a:p>
                      <a:r>
                        <a:rPr sz="1400">
                          <a:solidFill>
                            <a:srgbClr val="3A2A18"/>
                          </a:solidFill>
                        </a:rPr>
                        <a:t>Three at 10,000 each</a:t>
                      </a:r>
                    </a:p>
                  </a:txBody>
                  <a:tcPr>
                    <a:solidFill>
                      <a:srgbClr val="FFFDF8"/>
                    </a:solidFill>
                  </a:tcPr>
                </a:tc>
              </a:tr>
              <a:tr h="609600">
                <a:tc>
                  <a:txBody>
                    <a:bodyPr/>
                    <a:lstStyle/>
                    <a:p>
                      <a:r>
                        <a:rPr sz="1400">
                          <a:solidFill>
                            <a:srgbClr val="3A2A18"/>
                          </a:solidFill>
                        </a:rPr>
                        <a:t>Event budget</a:t>
                      </a:r>
                    </a:p>
                  </a:txBody>
                  <a:tcPr>
                    <a:solidFill>
                      <a:srgbClr val="FFFDF8"/>
                    </a:solidFill>
                  </a:tcPr>
                </a:tc>
                <a:tc>
                  <a:txBody>
                    <a:bodyPr/>
                    <a:lstStyle/>
                    <a:p>
                      <a:r>
                        <a:rPr sz="1400">
                          <a:solidFill>
                            <a:srgbClr val="3A2A18"/>
                          </a:solidFill>
                        </a:rPr>
                        <a:t>45,000</a:t>
                      </a:r>
                    </a:p>
                  </a:txBody>
                  <a:tcPr>
                    <a:solidFill>
                      <a:srgbClr val="FFFDF8"/>
                    </a:solidFill>
                  </a:tcPr>
                </a:tc>
                <a:tc>
                  <a:txBody>
                    <a:bodyPr/>
                    <a:lstStyle/>
                    <a:p>
                      <a:r>
                        <a:rPr sz="1400">
                          <a:solidFill>
                            <a:srgbClr val="3A2A18"/>
                          </a:solidFill>
                        </a:rPr>
                        <a:t>Approved</a:t>
                      </a:r>
                    </a:p>
                  </a:txBody>
                  <a:tcPr>
                    <a:solidFill>
                      <a:srgbClr val="FFFDF8"/>
                    </a:solidFill>
                  </a:tcPr>
                </a:tc>
              </a:tr>
              <a:tr h="609600">
                <a:tc>
                  <a:txBody>
                    <a:bodyPr/>
                    <a:lstStyle/>
                    <a:p>
                      <a:r>
                        <a:rPr sz="1400">
                          <a:solidFill>
                            <a:srgbClr val="3A2A18"/>
                          </a:solidFill>
                        </a:rPr>
                        <a:t>Ticket price</a:t>
                      </a:r>
                    </a:p>
                  </a:txBody>
                  <a:tcPr>
                    <a:solidFill>
                      <a:srgbClr val="FFFDF8"/>
                    </a:solidFill>
                  </a:tcPr>
                </a:tc>
                <a:tc>
                  <a:txBody>
                    <a:bodyPr/>
                    <a:lstStyle/>
                    <a:p>
                      <a:r>
                        <a:rPr sz="1400">
                          <a:solidFill>
                            <a:srgbClr val="3A2A18"/>
                          </a:solidFill>
                        </a:rPr>
                        <a:t>75</a:t>
                      </a:r>
                    </a:p>
                  </a:txBody>
                  <a:tcPr>
                    <a:solidFill>
                      <a:srgbClr val="FFFDF8"/>
                    </a:solidFill>
                  </a:tcPr>
                </a:tc>
                <a:tc>
                  <a:txBody>
                    <a:bodyPr/>
                    <a:lstStyle/>
                    <a:p>
                      <a:r>
                        <a:rPr sz="1400">
                          <a:solidFill>
                            <a:srgbClr val="3A2A18"/>
                          </a:solidFill>
                        </a:rPr>
                        <a:t>Per seat</a:t>
                      </a:r>
                    </a:p>
                  </a:txBody>
                  <a:tcPr>
                    <a:solidFill>
                      <a:srgbClr val="FFFDF8"/>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89904" cy="6858000"/>
          </a:xfrm>
          <a:prstGeom prst="rect">
            <a:avLst/>
          </a:prstGeom>
          <a:solidFill>
            <a:srgbClr val="5A3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5120640" cy="914400"/>
          </a:xfrm>
          <a:prstGeom prst="rect">
            <a:avLst/>
          </a:prstGeom>
          <a:noFill/>
        </p:spPr>
        <p:txBody>
          <a:bodyPr wrap="square" anchor="t">
            <a:spAutoFit/>
          </a:bodyPr>
          <a:lstStyle/>
          <a:p>
            <a:pPr algn="l"/>
            <a:r>
              <a:rPr sz="2800" b="1">
                <a:solidFill>
                  <a:srgbClr val="FFFFFF"/>
                </a:solidFill>
                <a:latin typeface="Georgia"/>
              </a:rPr>
              <a:t>West Side Second Facility</a:t>
            </a:r>
          </a:p>
        </p:txBody>
      </p:sp>
      <p:sp>
        <p:nvSpPr>
          <p:cNvPr id="5" name="TextBox 4"/>
          <p:cNvSpPr txBox="1"/>
          <p:nvPr/>
        </p:nvSpPr>
        <p:spPr>
          <a:xfrm>
            <a:off x="548640" y="1828800"/>
            <a:ext cx="5120640" cy="4114800"/>
          </a:xfrm>
          <a:prstGeom prst="rect">
            <a:avLst/>
          </a:prstGeom>
          <a:noFill/>
        </p:spPr>
        <p:txBody>
          <a:bodyPr wrap="square" anchor="t">
            <a:spAutoFit/>
          </a:bodyPr>
          <a:lstStyle/>
          <a:p>
            <a:pPr algn="l"/>
            <a:r>
              <a:rPr sz="1800" b="0">
                <a:solidFill>
                  <a:srgbClr val="F3E7D8"/>
                </a:solidFill>
                <a:latin typeface="Calibri"/>
              </a:rPr>
              <a:t>Livernois Avenue, 18 month lease</a:t>
            </a:r>
          </a:p>
          <a:p>
            <a:pPr algn="l"/>
            <a:r>
              <a:rPr sz="1800" b="0">
                <a:solidFill>
                  <a:srgbClr val="F3E7D8"/>
                </a:solidFill>
                <a:latin typeface="Calibri"/>
              </a:rPr>
              <a:t>3,200 USD per month</a:t>
            </a:r>
          </a:p>
          <a:p>
            <a:pPr algn="l"/>
            <a:r>
              <a:rPr sz="1800" b="0">
                <a:solidFill>
                  <a:srgbClr val="F3E7D8"/>
                </a:solidFill>
                <a:latin typeface="Calibri"/>
              </a:rPr>
              <a:t>Renovation 28,000 USD, Greenfield grant</a:t>
            </a:r>
          </a:p>
          <a:p>
            <a:pPr algn="l"/>
            <a:r>
              <a:rPr sz="1800" b="0">
                <a:solidFill>
                  <a:srgbClr val="F3E7D8"/>
                </a:solidFill>
                <a:latin typeface="Calibri"/>
              </a:rPr>
              <a:t>Two teaching artists and one coordinator to hire</a:t>
            </a:r>
          </a:p>
          <a:p>
            <a:pPr algn="l"/>
            <a:r>
              <a:rPr sz="1800" b="0">
                <a:solidFill>
                  <a:srgbClr val="F3E7D8"/>
                </a:solidFill>
                <a:latin typeface="Calibri"/>
              </a:rPr>
              <a:t>Grand opening November 21, 2026</a:t>
            </a:r>
          </a:p>
        </p:txBody>
      </p:sp>
      <p:sp>
        <p:nvSpPr>
          <p:cNvPr id="6" name="TextBox 5"/>
          <p:cNvSpPr txBox="1"/>
          <p:nvPr/>
        </p:nvSpPr>
        <p:spPr>
          <a:xfrm>
            <a:off x="6492240" y="548640"/>
            <a:ext cx="5120640" cy="914400"/>
          </a:xfrm>
          <a:prstGeom prst="rect">
            <a:avLst/>
          </a:prstGeom>
          <a:noFill/>
        </p:spPr>
        <p:txBody>
          <a:bodyPr wrap="square" anchor="t">
            <a:spAutoFit/>
          </a:bodyPr>
          <a:lstStyle/>
          <a:p>
            <a:pPr algn="l"/>
            <a:r>
              <a:rPr sz="2800" b="1">
                <a:solidFill>
                  <a:srgbClr val="5A3A1E"/>
                </a:solidFill>
                <a:latin typeface="Georgia"/>
              </a:rPr>
              <a:t>Why It Matters</a:t>
            </a:r>
          </a:p>
        </p:txBody>
      </p:sp>
      <p:sp>
        <p:nvSpPr>
          <p:cNvPr id="7" name="TextBox 6"/>
          <p:cNvSpPr txBox="1"/>
          <p:nvPr/>
        </p:nvSpPr>
        <p:spPr>
          <a:xfrm>
            <a:off x="6492240" y="1828800"/>
            <a:ext cx="5120640" cy="4114800"/>
          </a:xfrm>
          <a:prstGeom prst="rect">
            <a:avLst/>
          </a:prstGeom>
          <a:noFill/>
        </p:spPr>
        <p:txBody>
          <a:bodyPr wrap="square" anchor="t">
            <a:spAutoFit/>
          </a:bodyPr>
          <a:lstStyle/>
          <a:p>
            <a:pPr algn="l"/>
            <a:r>
              <a:rPr sz="1800" b="0">
                <a:solidFill>
                  <a:srgbClr val="3A2A18"/>
                </a:solidFill>
                <a:latin typeface="Calibri"/>
              </a:rPr>
              <a:t>A program home on the west side means families no longer travel across the city for studio time. It is trust in local people, the building and the bus, not only the program.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B56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20640" y="914400"/>
            <a:ext cx="1920240" cy="1920240"/>
          </a:xfrm>
          <a:prstGeom prst="ellipse">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3108960"/>
            <a:ext cx="10332720" cy="914400"/>
          </a:xfrm>
          <a:prstGeom prst="rect">
            <a:avLst/>
          </a:prstGeom>
          <a:noFill/>
        </p:spPr>
        <p:txBody>
          <a:bodyPr wrap="square" anchor="t">
            <a:spAutoFit/>
          </a:bodyPr>
          <a:lstStyle/>
          <a:p>
            <a:pPr algn="ctr"/>
            <a:r>
              <a:rPr sz="3200" b="1">
                <a:solidFill>
                  <a:srgbClr val="FFFFFF"/>
                </a:solidFill>
                <a:latin typeface="Georgia"/>
              </a:rPr>
              <a:t>How does this serve our kids?</a:t>
            </a:r>
          </a:p>
        </p:txBody>
      </p:sp>
      <p:sp>
        <p:nvSpPr>
          <p:cNvPr id="5" name="TextBox 4"/>
          <p:cNvSpPr txBox="1"/>
          <p:nvPr/>
        </p:nvSpPr>
        <p:spPr>
          <a:xfrm>
            <a:off x="914400" y="4206240"/>
            <a:ext cx="10332720" cy="548640"/>
          </a:xfrm>
          <a:prstGeom prst="rect">
            <a:avLst/>
          </a:prstGeom>
          <a:noFill/>
        </p:spPr>
        <p:txBody>
          <a:bodyPr wrap="square" anchor="t">
            <a:spAutoFit/>
          </a:bodyPr>
          <a:lstStyle/>
          <a:p>
            <a:pPr algn="ctr"/>
            <a:r>
              <a:rPr sz="1600" b="0">
                <a:solidFill>
                  <a:srgbClr val="FFF3E2"/>
                </a:solidFill>
                <a:latin typeface="Calibri"/>
              </a:rPr>
              <a:t>Andrew Santos  |  andrew.santos@Greenridertech.co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2026-02-10T09:12:00Z</dcterms:created>
  <dcterms:modified xsi:type="dcterms:W3CDTF">2026-02-10T09:12:00Z</dcterms:modified>
  <cp:category/>
</cp:coreProperties>
</file>