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70832"/>
            <a:ext cx="12191695" cy="109728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200" b="1" i="0">
                <a:solidFill>
                  <a:srgbClr val="F1ECE0"/>
                </a:solidFill>
                <a:latin typeface="Constantia"/>
              </a:rPr>
              <a:t>Native Wildflower Series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0" i="1">
                <a:solidFill>
                  <a:srgbClr val="D6DCC9"/>
                </a:solidFill>
                <a:latin typeface="Constantia"/>
              </a:rPr>
              <a:t>A Commission for the Fellowship 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1ECE0"/>
                </a:solidFill>
                <a:latin typeface="Calibri"/>
              </a:rPr>
              <a:t>St. Brendan's Catholic Church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7ECDD"/>
                </a:solidFill>
                <a:latin typeface="Calibri"/>
              </a:rPr>
              <a:t>Painted by Catherine Conway  |  Installation due December 11,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F4F3A"/>
                </a:solidFill>
                <a:latin typeface="Constantia"/>
              </a:rPr>
              <a:t>The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2743200" cy="73152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9875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2E2A24"/>
                </a:solidFill>
                <a:latin typeface="Calibri"/>
              </a:rPr>
              <a:t>A series of native wildflower studies for the renewed fellowship hall, painted in watercolour on large-format archival paper.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i="0">
                <a:solidFill>
                  <a:srgbClr val="2E2A24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4A4438"/>
                </a:solidFill>
                <a:latin typeface="Constantia"/>
              </a:rPr>
              <a:t>These are the quiet plants of the Pacific Northwest, easy to walk past. Gathered on the hall wall, they become a small argument that they are worth slowing down for, and a fitting welcome for the parish community.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1ECE0"/>
                </a:solidFill>
                <a:latin typeface="Constantia"/>
              </a:rPr>
              <a:t>The Plants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918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18872" cy="1828800"/>
          </a:xfrm>
          <a:prstGeom prst="rect">
            <a:avLst/>
          </a:prstGeom>
          <a:solidFill>
            <a:srgbClr val="6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031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F4F3A"/>
                </a:solidFill>
                <a:latin typeface="Constantia"/>
              </a:rPr>
              <a:t>Camas Lily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3F4F3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5446"/>
                </a:solidFill>
                <a:latin typeface="Calibri"/>
              </a:rPr>
              <a:t>Deep blue spring bloom of the wet meadow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2918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118872" cy="1828800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F4F3A"/>
                </a:solidFill>
                <a:latin typeface="Constantia"/>
              </a:rPr>
              <a:t>Oregon Iris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3F4F3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5446"/>
                </a:solidFill>
                <a:latin typeface="Calibri"/>
              </a:rPr>
              <a:t>The native iris, falls and standards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32918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118872" cy="1828800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F4F3A"/>
                </a:solidFill>
                <a:latin typeface="Constantia"/>
              </a:rPr>
              <a:t>Lupine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3F4F3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5446"/>
                </a:solidFill>
                <a:latin typeface="Calibri"/>
              </a:rPr>
              <a:t>Tall racemes, the anchor of the series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86200"/>
            <a:ext cx="32918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86200"/>
            <a:ext cx="118872" cy="1828800"/>
          </a:xfrm>
          <a:prstGeom prst="rect">
            <a:avLst/>
          </a:prstGeom>
          <a:solidFill>
            <a:srgbClr val="6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F4F3A"/>
                </a:solidFill>
                <a:latin typeface="Constantia"/>
              </a:rPr>
              <a:t>Trillium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3F4F3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5446"/>
                </a:solidFill>
                <a:latin typeface="Calibri"/>
              </a:rPr>
              <a:t>A woodland triptych under one light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886200"/>
            <a:ext cx="32918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886200"/>
            <a:ext cx="118872" cy="1828800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1605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F4F3A"/>
                </a:solidFill>
                <a:latin typeface="Constantia"/>
              </a:rPr>
              <a:t>Columbine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3F4F3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5446"/>
                </a:solidFill>
                <a:latin typeface="Calibri"/>
              </a:rPr>
              <a:t>Spurred, dimensional, red and 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886200"/>
            <a:ext cx="32918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886200"/>
            <a:ext cx="118872" cy="1828800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16052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3F4F3A"/>
                </a:solidFill>
                <a:latin typeface="Constantia"/>
              </a:rPr>
              <a:t>Yarrow and Aster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400" b="0" i="0">
                <a:solidFill>
                  <a:srgbClr val="3F4F3A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5A5446"/>
                </a:solidFill>
                <a:latin typeface="Calibri"/>
              </a:rPr>
              <a:t>Fine umbels and late season colour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1ECE0"/>
                </a:solidFill>
                <a:latin typeface="Constantia"/>
              </a:rPr>
              <a:t>Scale and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2743200" cy="73152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7315200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937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109728" marR="73152" marT="27432" marB="27432" anchor="ctr">
                    <a:solidFill>
                      <a:srgbClr val="6A4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Specification</a:t>
                      </a:r>
                    </a:p>
                  </a:txBody>
                  <a:tcPr marL="109728" marR="73152" marT="27432" marB="27432" anchor="ctr">
                    <a:solidFill>
                      <a:srgbClr val="6A4A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109728" marR="73152" marT="27432" marB="27432" anchor="ctr">
                    <a:solidFill>
                      <a:srgbClr val="F1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300gsm cotton rag, 40 x 60 in sheets</a:t>
                      </a:r>
                    </a:p>
                  </a:txBody>
                  <a:tcPr marL="109728" marR="73152" marT="27432" marB="27432" anchor="ctr">
                    <a:solidFill>
                      <a:srgbClr val="F1ECE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9728" marR="73152" marT="27432" marB="27432" anchor="ctr">
                    <a:solidFill>
                      <a:srgbClr val="E6D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Ridgemont Fine Papers, archival</a:t>
                      </a:r>
                    </a:p>
                  </a:txBody>
                  <a:tcPr marL="109728" marR="73152" marT="27432" marB="27432" anchor="ctr">
                    <a:solidFill>
                      <a:srgbClr val="E6DFC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9728" marR="73152" marT="27432" marB="27432" anchor="ctr">
                    <a:solidFill>
                      <a:srgbClr val="F1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Professional watercolour, lightfast</a:t>
                      </a:r>
                    </a:p>
                  </a:txBody>
                  <a:tcPr marL="109728" marR="73152" marT="27432" marB="27432" anchor="ctr">
                    <a:solidFill>
                      <a:srgbClr val="F1ECE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Mounting</a:t>
                      </a:r>
                    </a:p>
                  </a:txBody>
                  <a:tcPr marL="109728" marR="73152" marT="27432" marB="27432" anchor="ctr">
                    <a:solidFill>
                      <a:srgbClr val="E6DF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Archival board, acid free interleaving</a:t>
                      </a:r>
                    </a:p>
                  </a:txBody>
                  <a:tcPr marL="109728" marR="73152" marT="27432" marB="27432" anchor="ctr">
                    <a:solidFill>
                      <a:srgbClr val="E6DFC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Finish</a:t>
                      </a:r>
                    </a:p>
                  </a:txBody>
                  <a:tcPr marL="109728" marR="73152" marT="27432" marB="27432" anchor="ctr">
                    <a:solidFill>
                      <a:srgbClr val="F1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E2A24"/>
                          </a:solidFill>
                          <a:latin typeface="Calibri"/>
                        </a:rPr>
                        <a:t>Framed with UV glazing for the hall</a:t>
                      </a:r>
                    </a:p>
                  </a:txBody>
                  <a:tcPr marL="109728" marR="73152" marT="27432" marB="27432" anchor="ctr">
                    <a:solidFill>
                      <a:srgbClr val="F1ECE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595360" y="2011680"/>
            <a:ext cx="2743200" cy="3566160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331720"/>
            <a:ext cx="2286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1ECE0"/>
                </a:solidFill>
                <a:latin typeface="Calibri"/>
              </a:rPr>
              <a:t>WHY LARGE FORMAT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F1ECE0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1">
                <a:solidFill>
                  <a:srgbClr val="EEF0E4"/>
                </a:solidFill>
                <a:latin typeface="Constantia"/>
              </a:rPr>
              <a:t>Big sheets let the washes breathe and read across the hall, the way the plants read across a meadow.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1ECE0"/>
                </a:solidFill>
                <a:latin typeface="Constantia"/>
              </a:rPr>
              <a:t>Timeline and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3383280" cy="155448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3383280" cy="118872"/>
          </a:xfrm>
          <a:prstGeom prst="rect">
            <a:avLst/>
          </a:prstGeom>
          <a:solidFill>
            <a:srgbClr val="6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3F4F3A"/>
                </a:solidFill>
                <a:latin typeface="Constantia"/>
              </a:rPr>
              <a:t>USD 5,000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A5446"/>
                </a:solidFill>
                <a:latin typeface="Calibri"/>
              </a:rPr>
              <a:t>Total commission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83080"/>
            <a:ext cx="3383280" cy="155448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3383280" cy="118872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3F4F3A"/>
                </a:solidFill>
                <a:latin typeface="Constantia"/>
              </a:rPr>
              <a:t>USD 2,500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A5446"/>
                </a:solidFill>
                <a:latin typeface="Calibri"/>
              </a:rPr>
              <a:t>Deposit received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83080"/>
            <a:ext cx="3383280" cy="1554480"/>
          </a:xfrm>
          <a:prstGeom prst="rect">
            <a:avLst/>
          </a:prstGeom>
          <a:solidFill>
            <a:srgbClr val="FFFFFF"/>
          </a:solidFill>
          <a:ln w="1397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118872"/>
          </a:xfrm>
          <a:prstGeom prst="rect">
            <a:avLst/>
          </a:prstGeom>
          <a:solidFill>
            <a:srgbClr val="5B6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3F4F3A"/>
                </a:solidFill>
                <a:latin typeface="Constantia"/>
              </a:rPr>
              <a:t>USD 2,500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5A5446"/>
                </a:solidFill>
                <a:latin typeface="Calibri"/>
              </a:rPr>
              <a:t>Balance on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A4A5E"/>
                </a:solidFill>
                <a:latin typeface="Calibri"/>
              </a:rPr>
              <a:t>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50" b="1">
                <a:solidFill>
                  <a:srgbClr val="9C7C33"/>
                </a:solidFill>
                <a:latin typeface="Calibri"/>
              </a:rPr>
              <a:t>-  </a:t>
            </a:r>
            <a:r>
              <a:rPr sz="1550">
                <a:solidFill>
                  <a:srgbClr val="3A3528"/>
                </a:solidFill>
                <a:latin typeface="Calibri"/>
              </a:rPr>
              <a:t>October 2026, installation layout shared with the council before framing.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50" b="1">
                <a:solidFill>
                  <a:srgbClr val="9C7C33"/>
                </a:solidFill>
                <a:latin typeface="Calibri"/>
              </a:rPr>
              <a:t>-  </a:t>
            </a:r>
            <a:r>
              <a:rPr sz="1550">
                <a:solidFill>
                  <a:srgbClr val="3A3528"/>
                </a:solidFill>
                <a:latin typeface="Calibri"/>
              </a:rPr>
              <a:t>November 2026, painting completed and reviewed.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50" b="1">
                <a:solidFill>
                  <a:srgbClr val="9C7C33"/>
                </a:solidFill>
                <a:latin typeface="Calibri"/>
              </a:rPr>
              <a:t>-  </a:t>
            </a:r>
            <a:r>
              <a:rPr sz="1550">
                <a:solidFill>
                  <a:srgbClr val="3A3528"/>
                </a:solidFill>
                <a:latin typeface="Calibri"/>
              </a:rPr>
              <a:t>December 11, 2026, framed series installed in the fellowship hall.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2011680"/>
            <a:ext cx="9601200" cy="45720"/>
          </a:xfrm>
          <a:prstGeom prst="rect">
            <a:avLst/>
          </a:prstGeom>
          <a:solidFill>
            <a:srgbClr val="9C7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1">
                <a:solidFill>
                  <a:srgbClr val="F1ECE0"/>
                </a:solidFill>
                <a:latin typeface="Constantia"/>
              </a:rPr>
              <a:t>Resurrection rehearses itself in the garden every year. Let the hall hold a little of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9C7C33"/>
                </a:solidFill>
                <a:latin typeface="Constantia"/>
              </a:rPr>
              <a:t>With gratitude,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1ECE0"/>
                </a:solidFill>
                <a:latin typeface="Calibri"/>
              </a:rPr>
              <a:t>Catherine Conway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Wildflower Series Proposal</dc:title>
  <dc:subject/>
  <dc:creator>Catherine Conway</dc:creator>
  <cp:keywords/>
  <dc:description/>
  <cp:lastModifiedBy>Catherine Conway</cp:lastModifiedBy>
  <cp:revision>1</cp:revision>
  <dcterms:created xsi:type="dcterms:W3CDTF">2026-02-15T10:00:00Z</dcterms:created>
  <dcterms:modified xsi:type="dcterms:W3CDTF">2026-02-15T10:00:00Z</dcterms:modified>
  <cp:category/>
</cp:coreProperties>
</file>