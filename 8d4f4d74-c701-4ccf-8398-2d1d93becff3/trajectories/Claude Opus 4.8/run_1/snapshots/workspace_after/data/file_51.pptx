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42A4A"/>
                </a:solidFill>
              </a:rPr>
              <a:t>Where the gifts go (cost in thousands)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Renovation Scope ($000)</c:v>
                </c:pt>
              </c:strCache>
            </c:strRef>
          </c:tx>
          <c:spPr>
            <a:solidFill>
              <a:srgbClr val="142A4A"/>
            </a:solidFill>
          </c:spPr>
          <c:cat>
            <c:strRef>
              <c:f>Sheet1!$A$2:$A$7</c:f>
              <c:strCache>
                <c:ptCount val="6"/>
                <c:pt idx="0">
                  <c:v>Foundation</c:v>
                </c:pt>
                <c:pt idx="1">
                  <c:v>Education Wing</c:v>
                </c:pt>
                <c:pt idx="2">
                  <c:v>Accessibility</c:v>
                </c:pt>
                <c:pt idx="3">
                  <c:v>Choir and Organ</c:v>
                </c:pt>
                <c:pt idx="4">
                  <c:v>Mechanical</c:v>
                </c:pt>
                <c:pt idx="5">
                  <c:v>Contingency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650</c:v>
                </c:pt>
                <c:pt idx="1">
                  <c:v>480</c:v>
                </c:pt>
                <c:pt idx="2">
                  <c:v>320</c:v>
                </c:pt>
                <c:pt idx="3">
                  <c:v>280</c:v>
                </c:pt>
                <c:pt idx="4">
                  <c:v>420</c:v>
                </c:pt>
                <c:pt idx="5">
                  <c:v>350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42A4A"/>
                </a:solidFill>
              </a:rPr>
              <a:t>Pledges by giving level ($000)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Pledges by giving level ($000)</c:v>
                </c:pt>
              </c:strCache>
            </c:strRef>
          </c:tx>
          <c:dPt>
            <c:idx val="0"/>
            <c:spPr>
              <a:solidFill>
                <a:srgbClr val="142A4A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2F5A8C"/>
              </a:solidFill>
            </c:spPr>
          </c:dPt>
          <c:dPt>
            <c:idx val="3"/>
            <c:spPr>
              <a:solidFill>
                <a:srgbClr val="7D889C"/>
              </a:solidFill>
            </c:spPr>
          </c:dPt>
          <c:cat>
            <c:strRef>
              <c:f>Sheet1!$A$2:$A$5</c:f>
              <c:strCache>
                <c:ptCount val="4"/>
                <c:pt idx="0">
                  <c:v>Lead gifts</c:v>
                </c:pt>
                <c:pt idx="1">
                  <c:v>Major gifts</c:v>
                </c:pt>
                <c:pt idx="2">
                  <c:v>Supporting</c:v>
                </c:pt>
                <c:pt idx="3">
                  <c:v>Founding friends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</c:v>
                </c:pt>
                <c:pt idx="1">
                  <c:v>265</c:v>
                </c:pt>
                <c:pt idx="2">
                  <c:v>200</c:v>
                </c:pt>
                <c:pt idx="3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42A4A"/>
                </a:solidFill>
              </a:rPr>
              <a:t>Cumulative pledges secured ($000)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pledges secured ($000)</c:v>
                </c:pt>
              </c:strCache>
            </c:strRef>
          </c:tx>
          <c:spPr>
            <a:solidFill>
              <a:srgbClr val="142A4A"/>
            </a:solidFill>
          </c:spPr>
          <c:cat>
            <c:strRef>
              <c:f>Sheet1!$A$2:$A$5</c:f>
              <c:strCache>
                <c:ptCount val="4"/>
                <c:pt idx="0">
                  <c:v>Autumn 2025</c:v>
                </c:pt>
                <c:pt idx="1">
                  <c:v>Winter 2025</c:v>
                </c:pt>
                <c:pt idx="2">
                  <c:v>Winter 2026</c:v>
                </c:pt>
                <c:pt idx="3">
                  <c:v>Autumn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500</c:v>
                </c:pt>
                <c:pt idx="2">
                  <c:v>800</c:v>
                </c:pt>
                <c:pt idx="3">
                  <c:v>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3716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Building Our Future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9A227"/>
                </a:solidFill>
                <a:latin typeface="Calibri"/>
              </a:rPr>
              <a:t>A Capital Campaign for St. Genevieve Community Church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2F4F8"/>
                </a:solidFill>
                <a:latin typeface="Calibri"/>
              </a:rPr>
              <a:t>Presented by Rev. Colette Mullins, Rector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0C9"/>
                </a:solidFill>
                <a:latin typeface="Calibri"/>
              </a:rPr>
              <a:t>Campaign Overview, October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09" dur="indefinite" restart="never" nodeType="tmRoot">
          <p:childTnLst>
            <p:seq concurrent="1" nextAc="seek">
              <p:cTn id="11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0058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42A4A"/>
                </a:solidFill>
                <a:latin typeface="Calibri"/>
              </a:rPr>
              <a:t>Our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8D2E0"/>
                </a:solidFill>
                <a:latin typeface="Calibri"/>
              </a:rPr>
              <a:t>St. Genevieve Community Church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9A227"/>
                </a:solidFill>
                <a:latin typeface="Calibri"/>
              </a:rPr>
              <a:t>Building Our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C4A60"/>
                </a:solidFill>
                <a:latin typeface="Calibri"/>
              </a:rPr>
              <a:t>  A congregation of 350 families, serving greater Cleveland for over one hundred years.</a:t>
            </a:r>
            <a:r>
              <a:t/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C4A60"/>
                </a:solidFill>
                <a:latin typeface="Calibri"/>
              </a:rPr>
              <a:t>  A 1924 sanctuary that now needs structural reinforcement to stand for the next century.</a:t>
            </a:r>
            <a:r>
              <a:t/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C4A60"/>
                </a:solidFill>
                <a:latin typeface="Calibri"/>
              </a:rPr>
              <a:t>  An education wing that cannot yet welcome every member who uses a wheelchair.</a:t>
            </a:r>
            <a:r>
              <a:t/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C4A60"/>
                </a:solidFill>
                <a:latin typeface="Calibri"/>
              </a:rPr>
              <a:t>  A choir loft staircase that is no longer safe for our older members.</a:t>
            </a:r>
            <a:r>
              <a:t/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C4A60"/>
                </a:solidFill>
                <a:latin typeface="Calibri"/>
              </a:rPr>
              <a:t>  A commitment that this community will still be here, accessible and thriving, for the families who come next.</a:t>
            </a:r>
            <a: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74519"/>
            <a:ext cx="4206240" cy="39319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874519"/>
            <a:ext cx="4206240" cy="6400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97510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The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43200"/>
            <a:ext cx="37490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B202B"/>
                </a:solidFill>
                <a:latin typeface="Calibri"/>
              </a:rPr>
              <a:t>"This is not a building campaign. It is a commitment that this congregation will still be here for the next generation of families who need exactly what we have needed."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Rev. Colette Mullins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20" dur="indefinite" restart="never" nodeType="tmRoot">
          <p:childTnLst>
            <p:seq concurrent="1" nextAc="seek">
              <p:cTn id="121" dur="indefinite" nodeType="mainSeq">
                <p:childTnLst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0058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42A4A"/>
                </a:solidFill>
                <a:latin typeface="Calibri"/>
              </a:rPr>
              <a:t>Campaign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8D2E0"/>
                </a:solidFill>
                <a:latin typeface="Calibri"/>
              </a:rPr>
              <a:t>St. Genevieve Community Church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9A227"/>
                </a:solidFill>
                <a:latin typeface="Calibri"/>
              </a:rPr>
              <a:t>Building Our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38328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28016" cy="15544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42A4A"/>
                </a:solidFill>
                <a:latin typeface="Calibri"/>
              </a:rPr>
              <a:t>$2.5M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C4A60"/>
                </a:solidFill>
                <a:latin typeface="Calibri"/>
              </a:rPr>
              <a:t>Total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38328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128016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C9A227"/>
                </a:solidFill>
                <a:latin typeface="Calibri"/>
              </a:rPr>
              <a:t>$1.1M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C4A60"/>
                </a:solidFill>
                <a:latin typeface="Calibri"/>
              </a:rPr>
              <a:t>Pledged to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28800"/>
            <a:ext cx="338328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828800"/>
            <a:ext cx="128016" cy="1554480"/>
          </a:xfrm>
          <a:prstGeom prst="rect">
            <a:avLst/>
          </a:prstGeom>
          <a:solidFill>
            <a:srgbClr val="3C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01168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C4A60"/>
                </a:solidFill>
                <a:latin typeface="Calibr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C4A60"/>
                </a:solidFill>
                <a:latin typeface="Calibri"/>
              </a:rPr>
              <a:t>Families Pledged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611880"/>
          <a:ext cx="108813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27" dur="indefinite" restart="never" nodeType="tmRoot">
          <p:childTnLst>
            <p:seq concurrent="1" nextAc="seek">
              <p:cTn id="128" dur="indefinite" nodeType="mainSeq">
                <p:childTnLst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0058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THE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42A4A"/>
                </a:solidFill>
                <a:latin typeface="Calibri"/>
              </a:rPr>
              <a:t>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8D2E0"/>
                </a:solidFill>
                <a:latin typeface="Calibri"/>
              </a:rPr>
              <a:t>St. Genevieve Community Church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9A227"/>
                </a:solidFill>
                <a:latin typeface="Calibri"/>
              </a:rPr>
              <a:t>Building Our Future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256032" cy="25603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2221992"/>
            <a:ext cx="36576" cy="74980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42A4A"/>
                </a:solidFill>
                <a:latin typeface="Calibri"/>
              </a:rPr>
              <a:t>Quiet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0428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Autumn 2026 to Spring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92024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C4A60"/>
                </a:solidFill>
                <a:latin typeface="Calibri"/>
              </a:rPr>
              <a:t>Lead gifts cultivated with the top donor families.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90088"/>
            <a:ext cx="256032" cy="25603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" y="3246120"/>
            <a:ext cx="36576" cy="74980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42A4A"/>
                </a:solidFill>
                <a:latin typeface="Calibri"/>
              </a:rPr>
              <a:t>Campaign Kickoff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28416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May 18,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44368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C4A60"/>
                </a:solidFill>
                <a:latin typeface="Calibri"/>
              </a:rPr>
              <a:t>Celebration dinner for 200 guests in the parish hall.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014216"/>
            <a:ext cx="256032" cy="25603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" y="4270248"/>
            <a:ext cx="36576" cy="749808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2277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42A4A"/>
                </a:solidFill>
                <a:latin typeface="Calibri"/>
              </a:rPr>
              <a:t>Construction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5254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Fall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968496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C4A60"/>
                </a:solidFill>
                <a:latin typeface="Calibri"/>
              </a:rPr>
              <a:t>Work begins once permits are secured.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038344"/>
            <a:ext cx="256032" cy="25603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94690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42A4A"/>
                </a:solidFill>
                <a:latin typeface="Calibri"/>
              </a:rPr>
              <a:t>Projected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766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Summer 2028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992624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C4A60"/>
                </a:solidFill>
                <a:latin typeface="Calibri"/>
              </a:rPr>
              <a:t>A renewed, fully accessible home for worship.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34" dur="indefinite" restart="never" nodeType="tmRoot">
          <p:childTnLst>
            <p:seq concurrent="1" nextAc="seek">
              <p:cTn id="135" dur="indefinite" nodeType="mainSeq">
                <p:childTnLst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28016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332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DDE4EF"/>
                </a:solidFill>
                <a:latin typeface="Calibri"/>
              </a:rPr>
              <a:t>Every pledge made brings us closer to a sanctuary that will serve the next generation of families who will find their home here.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B6C3D8"/>
                </a:solidFill>
                <a:latin typeface="Calibri"/>
              </a:rPr>
              <a:t>Multi-year pledges are welcome. To learn more, to see the architectural drawings, or to discuss a gift, please reach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5156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Rev. Colette Mullins, Rector   |   colette.mullins@Greenridertech.com   |   (216) 555-0340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45" dur="indefinite" restart="never" nodeType="tmRoot">
          <p:childTnLst>
            <p:seq concurrent="1" nextAc="seek">
              <p:cTn id="14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Campaign at a Glance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783080"/>
          <a:ext cx="5577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783080"/>
          <a:ext cx="54864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St. Genevieve Community Church   |   Building Our Future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505" dur="indefinite" restart="never" nodeType="tmRoot">
          <p:childTnLst>
            <p:seq concurrent="1" nextAc="seek">
              <p:cTn id="506" dur="indefinite" nodeType="mainSeq">
                <p:childTnLst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